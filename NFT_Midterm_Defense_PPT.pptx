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64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7258F1-40ED-B0AA-8F56-C61EF417F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ED034F7-1C67-CCC4-9202-9546AF1CE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487D8E-D18E-61F1-1016-F8036963E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077DA-5A53-49EF-A8B3-495C1A5D6C0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AF0C40-4325-FFB2-9460-3100AEAA0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2FB348-77C7-B043-5148-91C1FA13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1870A-1F8C-490E-8BEF-D080D83B28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430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4960EA-C56C-0F18-158D-F353FD596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273258-21FE-76B5-07E0-3B3103826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F70120-E015-E9B9-A23F-0A9C8B1E5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077DA-5A53-49EF-A8B3-495C1A5D6C0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032A9A-B401-AB65-F9E0-833AE4CB1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005F73-271E-F7DF-4633-E85B6BB10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1870A-1F8C-490E-8BEF-D080D83B28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831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E11392-8A02-5AEA-60F9-4A5C7A72D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D9D1FA-DB58-D8BB-BFB1-F10292094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FCAA45-C908-FF81-DE68-267103CC2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077DA-5A53-49EF-A8B3-495C1A5D6C0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19A9D0-914B-97A9-E9F3-75C983BE5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2CE68E-D9BA-3FA0-8BFE-A8F1E4A28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1870A-1F8C-490E-8BEF-D080D83B28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044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19701D-96A7-DF60-A1FE-FD946A07A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EE1616-7156-60F8-AEA5-7E5B292960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55DCF9-3571-70EE-5E09-CDE1D422D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270FBB-C2B1-E3D0-EC1F-FAC7BCCAB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077DA-5A53-49EF-A8B3-495C1A5D6C0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E33AF5-267E-0843-5796-6468A8F15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68B77D-2A70-D33D-3299-E4A99483D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1870A-1F8C-490E-8BEF-D080D83B28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136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92B799-FF99-A729-D42B-B14875343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BA605B-5EB4-A49F-56B3-7047A25FC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665F98-5D0A-CA2F-9AEA-4A70325BE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3BA2F79-88E0-BAD8-33AD-29D9AD0AD7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FDEE3D5-5ED9-882B-C99A-FAB54C103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BF82FA6-429E-15E9-DE43-FED67E942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077DA-5A53-49EF-A8B3-495C1A5D6C0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A6A5F7E-86F9-A464-B02B-53938482D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2DC95F8-0B66-DA6E-9770-7E4EEA0BC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1870A-1F8C-490E-8BEF-D080D83B28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329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9DDE97-6390-1D42-EA59-63FB7D0C6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9A4755-D134-B4F9-44B9-1BD9C6A0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077DA-5A53-49EF-A8B3-495C1A5D6C0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C116239-63A6-E960-C800-EB14B5FFE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B29586-7ADB-5043-97D2-B49ED49FE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1870A-1F8C-490E-8BEF-D080D83B28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554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BEBA630-4355-8EBF-70EE-5FA1A3469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077DA-5A53-49EF-A8B3-495C1A5D6C0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2B3EDB1-6CB3-4C8C-A608-30E36C370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7F35B0-5C6E-3EB3-8948-A11ECB30F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1870A-1F8C-490E-8BEF-D080D83B28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1115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CC0ABD-994E-A627-73F7-53865A649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EB4E53-D94B-93C0-11FB-3CBA8CFA9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866826-E192-535F-AE8F-4F721A878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8B137E-8D69-CE15-81D3-AC8FB819E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077DA-5A53-49EF-A8B3-495C1A5D6C0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F00E76-4FEA-AC67-2BB0-21B0ECF06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8BC17C-C114-9145-65BB-372FCBCF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1870A-1F8C-490E-8BEF-D080D83B28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097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A35596-8337-B953-5AC2-35A19D4BD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D91C5E2-2B76-8284-E13A-0AC482BFDB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22B578-C7F8-3823-7B3D-1302164C7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A5F7B9-D6B2-CB4E-E476-2468A0A0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077DA-5A53-49EF-A8B3-495C1A5D6C0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B686E6-E48F-E696-DE80-6FFBAAA60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A560FC-6513-5422-5D39-22D4CD0F6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1870A-1F8C-490E-8BEF-D080D83B28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067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30D054-DE6C-D3C4-91D8-0F30785C1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0AA8ED-5950-594F-4EFB-3BD34CE41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D93E58-3DFC-71CE-3846-96A0FBA08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077DA-5A53-49EF-A8B3-495C1A5D6C0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73887C-7F65-2F5D-F1AD-680C6280B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3C98E8-B63A-1205-38DD-5CDCE15EF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1870A-1F8C-490E-8BEF-D080D83B28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658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0BC4DF8-5B4F-6CFC-51D0-3E62E86ADD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4432877-5832-A6C8-4C29-D14B49CE08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8DAAB8-1983-22DD-57F6-B8FAE7FF0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077DA-5A53-49EF-A8B3-495C1A5D6C0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38C28D-E965-3313-1D8D-6F9AC0A2A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10894B-EA3F-84B4-C6BE-86A4E30D1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1870A-1F8C-490E-8BEF-D080D83B28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513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FB6E99C-056C-1AD2-684A-7ADD505DE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421BD8-3372-454B-E6D5-C6B527F92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DFA64B-C074-1D78-EEF4-1128E795E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077DA-5A53-49EF-A8B3-495C1A5D6C00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4A01A4-0807-C2AE-7821-91282E129B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819FAB-E408-C51B-7803-9650452AB4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1870A-1F8C-490E-8BEF-D080D83B28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388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A35D588-ADA1-31E8-F33D-C3526CC25A0F}"/>
              </a:ext>
            </a:extLst>
          </p:cNvPr>
          <p:cNvSpPr/>
          <p:nvPr/>
        </p:nvSpPr>
        <p:spPr>
          <a:xfrm>
            <a:off x="457200" y="584200"/>
            <a:ext cx="1422400" cy="1422400"/>
          </a:xfrm>
          <a:prstGeom prst="rect">
            <a:avLst/>
          </a:prstGeom>
          <a:solidFill>
            <a:srgbClr val="2DC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94E5648-6FE0-CF92-9465-044830A83690}"/>
              </a:ext>
            </a:extLst>
          </p:cNvPr>
          <p:cNvSpPr txBox="1"/>
          <p:nvPr/>
        </p:nvSpPr>
        <p:spPr>
          <a:xfrm>
            <a:off x="698500" y="1003300"/>
            <a:ext cx="939800" cy="471924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en-US" altLang="zh-CN" sz="2400" b="1">
                <a:solidFill>
                  <a:srgbClr val="090E1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</a:t>
            </a:r>
            <a:endParaRPr lang="zh-CN" altLang="en-US" sz="2400" b="1">
              <a:solidFill>
                <a:srgbClr val="090E1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7FB91B7-D20F-6A01-A509-7D494ABB7526}"/>
              </a:ext>
            </a:extLst>
          </p:cNvPr>
          <p:cNvSpPr txBox="1"/>
          <p:nvPr/>
        </p:nvSpPr>
        <p:spPr>
          <a:xfrm>
            <a:off x="2159000" y="914400"/>
            <a:ext cx="8890000" cy="52835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2800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基于区块链的 </a:t>
            </a:r>
            <a:r>
              <a:rPr lang="en-US" altLang="zh-CN" sz="2800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 </a:t>
            </a:r>
            <a:r>
              <a:rPr lang="zh-CN" altLang="en-US" sz="2800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数字藏品市场系统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630F9D-A9EF-99E4-1248-8C9BE4790FAC}"/>
              </a:ext>
            </a:extLst>
          </p:cNvPr>
          <p:cNvSpPr txBox="1"/>
          <p:nvPr/>
        </p:nvSpPr>
        <p:spPr>
          <a:xfrm>
            <a:off x="2159000" y="1574800"/>
            <a:ext cx="7112000" cy="348813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600" b="1">
                <a:solidFill>
                  <a:srgbClr val="2DC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中期答辩汇报 </a:t>
            </a:r>
            <a:r>
              <a:rPr lang="en-US" altLang="zh-CN" sz="1600" b="1">
                <a:solidFill>
                  <a:srgbClr val="2DC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PPT</a:t>
            </a:r>
            <a:endParaRPr lang="zh-CN" altLang="en-US" sz="1600" b="1">
              <a:solidFill>
                <a:srgbClr val="2DC6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86FF2D-EAFA-07C9-404B-BC0F09A1D2E0}"/>
              </a:ext>
            </a:extLst>
          </p:cNvPr>
          <p:cNvSpPr txBox="1"/>
          <p:nvPr/>
        </p:nvSpPr>
        <p:spPr>
          <a:xfrm>
            <a:off x="2159000" y="2006600"/>
            <a:ext cx="8509000" cy="62581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700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已完成前后端、智能合约、</a:t>
            </a:r>
            <a:r>
              <a:rPr lang="en-US" altLang="zh-CN" sz="1700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IPFS </a:t>
            </a:r>
            <a:r>
              <a:rPr lang="zh-CN" altLang="en-US" sz="1700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存储与市场交易主流程，当前重点从「功能闭环」走向「工程稳定」。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64DF3FF-8B13-1D59-D656-5E90FF53DDA9}"/>
              </a:ext>
            </a:extLst>
          </p:cNvPr>
          <p:cNvSpPr/>
          <p:nvPr/>
        </p:nvSpPr>
        <p:spPr>
          <a:xfrm>
            <a:off x="2159000" y="3022600"/>
            <a:ext cx="1549400" cy="3302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7923D7-C284-5A9B-0EC2-33BAAD3B28B0}"/>
              </a:ext>
            </a:extLst>
          </p:cNvPr>
          <p:cNvSpPr txBox="1"/>
          <p:nvPr/>
        </p:nvSpPr>
        <p:spPr>
          <a:xfrm>
            <a:off x="2260600" y="3060700"/>
            <a:ext cx="1346200" cy="25648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000" b="1">
                <a:solidFill>
                  <a:srgbClr val="2DC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钱包签名登录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747965-A966-784E-946A-48D8BAE1ED38}"/>
              </a:ext>
            </a:extLst>
          </p:cNvPr>
          <p:cNvSpPr/>
          <p:nvPr/>
        </p:nvSpPr>
        <p:spPr>
          <a:xfrm>
            <a:off x="3860800" y="3022600"/>
            <a:ext cx="1524000" cy="3302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4E3D8A-2AA5-79C2-3F68-6F92EF9F5ECD}"/>
              </a:ext>
            </a:extLst>
          </p:cNvPr>
          <p:cNvSpPr txBox="1"/>
          <p:nvPr/>
        </p:nvSpPr>
        <p:spPr>
          <a:xfrm>
            <a:off x="3962400" y="3060700"/>
            <a:ext cx="1320800" cy="25648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1000" b="1">
                <a:solidFill>
                  <a:srgbClr val="3BE1B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IPFS </a:t>
            </a:r>
            <a:r>
              <a:rPr lang="zh-CN" altLang="en-US" sz="1000" b="1">
                <a:solidFill>
                  <a:srgbClr val="3BE1B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元数据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CCD6D2B-461F-FF0D-31E7-76244DDEFC85}"/>
              </a:ext>
            </a:extLst>
          </p:cNvPr>
          <p:cNvSpPr/>
          <p:nvPr/>
        </p:nvSpPr>
        <p:spPr>
          <a:xfrm>
            <a:off x="5537200" y="3022600"/>
            <a:ext cx="1879600" cy="3302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BF21425-F630-D89F-D4FB-BBD132D65530}"/>
              </a:ext>
            </a:extLst>
          </p:cNvPr>
          <p:cNvSpPr txBox="1"/>
          <p:nvPr/>
        </p:nvSpPr>
        <p:spPr>
          <a:xfrm>
            <a:off x="5638800" y="3060700"/>
            <a:ext cx="1676400" cy="25648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000" b="1">
                <a:solidFill>
                  <a:srgbClr val="FF63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链上铸造与交易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E4B0BBF-849E-9498-E9F6-B2A46AE7A489}"/>
              </a:ext>
            </a:extLst>
          </p:cNvPr>
          <p:cNvSpPr txBox="1"/>
          <p:nvPr/>
        </p:nvSpPr>
        <p:spPr>
          <a:xfrm>
            <a:off x="457200" y="6273800"/>
            <a:ext cx="5080000" cy="25648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0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</a:t>
            </a:r>
            <a:r>
              <a:rPr lang="en-US" altLang="zh-CN" sz="10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________    </a:t>
            </a:r>
            <a:r>
              <a:rPr lang="zh-CN" altLang="en-US" sz="10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时间：</a:t>
            </a:r>
            <a:r>
              <a:rPr lang="en-US" altLang="zh-CN" sz="10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________</a:t>
            </a:r>
            <a:endParaRPr lang="zh-CN" altLang="en-US" sz="1000">
              <a:solidFill>
                <a:srgbClr val="AABAD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6C8C1A3-C875-3D3E-86A5-0202EB752056}"/>
              </a:ext>
            </a:extLst>
          </p:cNvPr>
          <p:cNvSpPr txBox="1"/>
          <p:nvPr/>
        </p:nvSpPr>
        <p:spPr>
          <a:xfrm>
            <a:off x="10464800" y="6248400"/>
            <a:ext cx="1270000" cy="25648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 Project</a:t>
            </a:r>
            <a:endParaRPr lang="zh-CN" altLang="en-US" sz="1000" b="1">
              <a:solidFill>
                <a:srgbClr val="AABAD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6162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BA537D6-81A4-E85F-0588-6281D9504897}"/>
              </a:ext>
            </a:extLst>
          </p:cNvPr>
          <p:cNvSpPr txBox="1"/>
          <p:nvPr/>
        </p:nvSpPr>
        <p:spPr>
          <a:xfrm>
            <a:off x="457200" y="457200"/>
            <a:ext cx="53340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2600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2600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项目背景与研究目标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5D703B-BE0B-6D49-CE4C-22AA5A0263CA}"/>
              </a:ext>
            </a:extLst>
          </p:cNvPr>
          <p:cNvSpPr/>
          <p:nvPr/>
        </p:nvSpPr>
        <p:spPr>
          <a:xfrm>
            <a:off x="457200" y="1244600"/>
            <a:ext cx="3556000" cy="19050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4258B90-564E-E0F4-5217-632842C54E25}"/>
              </a:ext>
            </a:extLst>
          </p:cNvPr>
          <p:cNvSpPr txBox="1"/>
          <p:nvPr/>
        </p:nvSpPr>
        <p:spPr>
          <a:xfrm>
            <a:off x="635000" y="1397000"/>
            <a:ext cx="32004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选题背景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FC25C40-3939-891B-7AC8-0D3A2A4475D8}"/>
              </a:ext>
            </a:extLst>
          </p:cNvPr>
          <p:cNvSpPr txBox="1"/>
          <p:nvPr/>
        </p:nvSpPr>
        <p:spPr>
          <a:xfrm>
            <a:off x="635000" y="1828800"/>
            <a:ext cx="3200400" cy="610424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数字内容易复制、难确权。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通过链上 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实现唯一标识、所有权记录与交易追溯，适合构建数字藏品市场。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96F4632-0719-80D3-EA77-909664A29D38}"/>
              </a:ext>
            </a:extLst>
          </p:cNvPr>
          <p:cNvSpPr/>
          <p:nvPr/>
        </p:nvSpPr>
        <p:spPr>
          <a:xfrm>
            <a:off x="4318000" y="1244600"/>
            <a:ext cx="3556000" cy="19050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7C7A84E-B702-BB7E-F324-F0BB5B7E9F69}"/>
              </a:ext>
            </a:extLst>
          </p:cNvPr>
          <p:cNvSpPr txBox="1"/>
          <p:nvPr/>
        </p:nvSpPr>
        <p:spPr>
          <a:xfrm>
            <a:off x="4495800" y="1397000"/>
            <a:ext cx="32004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项目目标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735B43-F96D-52DD-10BA-1FAEB2E7B1C5}"/>
              </a:ext>
            </a:extLst>
          </p:cNvPr>
          <p:cNvSpPr txBox="1"/>
          <p:nvPr/>
        </p:nvSpPr>
        <p:spPr>
          <a:xfrm>
            <a:off x="4495800" y="1828800"/>
            <a:ext cx="3200400" cy="44114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不是只做 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ERC721 Demo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，而是实现一个包含前端、后端、数据库、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IPFS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与合约的完整平台原型。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BBF792-79AD-8CC1-E9CB-DC2321183180}"/>
              </a:ext>
            </a:extLst>
          </p:cNvPr>
          <p:cNvSpPr/>
          <p:nvPr/>
        </p:nvSpPr>
        <p:spPr>
          <a:xfrm>
            <a:off x="8178800" y="1244600"/>
            <a:ext cx="3556000" cy="19050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BFFEFB0-F2B8-DB02-3331-9DF047AA5820}"/>
              </a:ext>
            </a:extLst>
          </p:cNvPr>
          <p:cNvSpPr txBox="1"/>
          <p:nvPr/>
        </p:nvSpPr>
        <p:spPr>
          <a:xfrm>
            <a:off x="8356600" y="1397000"/>
            <a:ext cx="32004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阶段目标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1F643E-B68B-F23B-87C7-22FCB8A97C0E}"/>
              </a:ext>
            </a:extLst>
          </p:cNvPr>
          <p:cNvSpPr txBox="1"/>
          <p:nvPr/>
        </p:nvSpPr>
        <p:spPr>
          <a:xfrm>
            <a:off x="8356600" y="1828800"/>
            <a:ext cx="3200400" cy="44114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中期重点先把主流程打通：身份认证、资源上传、元数据生成、链上铸造、上架购买、订单同步。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CE34997-D7BE-3269-E760-04BB2F6C683E}"/>
              </a:ext>
            </a:extLst>
          </p:cNvPr>
          <p:cNvSpPr/>
          <p:nvPr/>
        </p:nvSpPr>
        <p:spPr>
          <a:xfrm>
            <a:off x="457200" y="3505200"/>
            <a:ext cx="11277600" cy="2159000"/>
          </a:xfrm>
          <a:prstGeom prst="rect">
            <a:avLst/>
          </a:prstGeom>
          <a:solidFill>
            <a:srgbClr val="0F18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22EB64D-7435-2F96-1D8E-236352645889}"/>
              </a:ext>
            </a:extLst>
          </p:cNvPr>
          <p:cNvSpPr txBox="1"/>
          <p:nvPr/>
        </p:nvSpPr>
        <p:spPr>
          <a:xfrm>
            <a:off x="635000" y="3657600"/>
            <a:ext cx="109220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当前判断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F2E045D-2B64-B77E-478E-A702C04FF2D4}"/>
              </a:ext>
            </a:extLst>
          </p:cNvPr>
          <p:cNvSpPr txBox="1"/>
          <p:nvPr/>
        </p:nvSpPr>
        <p:spPr>
          <a:xfrm>
            <a:off x="635000" y="4089400"/>
            <a:ext cx="10922000" cy="610424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项目已经从「概念验证」进入「系统雏形」阶段。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当前核心完成度约 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70%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，已具备从用户登录到 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交易与个人资产管理的基本闭环。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下一阶段重点是工程稳定性、链上链下一致性和自动化测试补全。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1EA6C74-5E2A-26C3-6E0A-97D92693DD19}"/>
              </a:ext>
            </a:extLst>
          </p:cNvPr>
          <p:cNvSpPr txBox="1"/>
          <p:nvPr/>
        </p:nvSpPr>
        <p:spPr>
          <a:xfrm>
            <a:off x="457200" y="6451600"/>
            <a:ext cx="8890000" cy="24109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9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项目背景与目标 </a:t>
            </a:r>
            <a:r>
              <a:rPr lang="en-US" altLang="zh-CN" sz="9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</a:t>
            </a:r>
            <a:r>
              <a:rPr lang="zh-CN" altLang="en-US" sz="9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中期汇报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DD67AFD-B386-BBB5-35B3-FF38B3DD6B09}"/>
              </a:ext>
            </a:extLst>
          </p:cNvPr>
          <p:cNvSpPr txBox="1"/>
          <p:nvPr/>
        </p:nvSpPr>
        <p:spPr>
          <a:xfrm>
            <a:off x="11430000" y="6426200"/>
            <a:ext cx="355600" cy="25648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000" b="1">
              <a:solidFill>
                <a:srgbClr val="AABAD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4536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73D68EB-A56A-457D-989E-B8D05BD195AA}"/>
              </a:ext>
            </a:extLst>
          </p:cNvPr>
          <p:cNvSpPr txBox="1"/>
          <p:nvPr/>
        </p:nvSpPr>
        <p:spPr>
          <a:xfrm>
            <a:off x="457200" y="457200"/>
            <a:ext cx="54610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2600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2600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系统总体架构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CDF97C-7125-A751-C8E3-738A14569B0F}"/>
              </a:ext>
            </a:extLst>
          </p:cNvPr>
          <p:cNvSpPr txBox="1"/>
          <p:nvPr/>
        </p:nvSpPr>
        <p:spPr>
          <a:xfrm>
            <a:off x="457200" y="990600"/>
            <a:ext cx="6604000" cy="302647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300" b="1">
                <a:solidFill>
                  <a:srgbClr val="2DC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采用「链上负责确权交易，链下负责展示与业务聚合」的协同架构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1D8190-CDD2-F783-DF87-83C8CB64CDD4}"/>
              </a:ext>
            </a:extLst>
          </p:cNvPr>
          <p:cNvSpPr/>
          <p:nvPr/>
        </p:nvSpPr>
        <p:spPr>
          <a:xfrm>
            <a:off x="457200" y="1600200"/>
            <a:ext cx="2590800" cy="20320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D96A03-190A-9E71-22B1-57B48261AB31}"/>
              </a:ext>
            </a:extLst>
          </p:cNvPr>
          <p:cNvSpPr txBox="1"/>
          <p:nvPr/>
        </p:nvSpPr>
        <p:spPr>
          <a:xfrm>
            <a:off x="635000" y="1752600"/>
            <a:ext cx="22352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前端层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C463DD-ADD8-40B1-A918-500734303495}"/>
              </a:ext>
            </a:extLst>
          </p:cNvPr>
          <p:cNvSpPr txBox="1"/>
          <p:nvPr/>
        </p:nvSpPr>
        <p:spPr>
          <a:xfrm>
            <a:off x="635000" y="2184400"/>
            <a:ext cx="2235200" cy="779701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Next.js + React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负责市场展示、创建页、详情交易、个人中心、钱包交互与流程反馈。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6B4814-CB17-7876-3740-8226907D68BD}"/>
              </a:ext>
            </a:extLst>
          </p:cNvPr>
          <p:cNvSpPr/>
          <p:nvPr/>
        </p:nvSpPr>
        <p:spPr>
          <a:xfrm>
            <a:off x="3276600" y="1600200"/>
            <a:ext cx="2590800" cy="20320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9E5F748-D34A-F99D-354D-B548AD7B1C7D}"/>
              </a:ext>
            </a:extLst>
          </p:cNvPr>
          <p:cNvSpPr txBox="1"/>
          <p:nvPr/>
        </p:nvSpPr>
        <p:spPr>
          <a:xfrm>
            <a:off x="3454400" y="1752600"/>
            <a:ext cx="22352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后端层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70AAA6-7854-B39D-63E2-57B56378BA62}"/>
              </a:ext>
            </a:extLst>
          </p:cNvPr>
          <p:cNvSpPr txBox="1"/>
          <p:nvPr/>
        </p:nvSpPr>
        <p:spPr>
          <a:xfrm>
            <a:off x="3454400" y="2184400"/>
            <a:ext cx="2235200" cy="610424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Go + Mux + GORM + MySQL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负责 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JWT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鉴权、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数据、订单、上传、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IPFS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接口与资料管理。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95E546E-913D-F12E-7356-5EBF559B487E}"/>
              </a:ext>
            </a:extLst>
          </p:cNvPr>
          <p:cNvSpPr/>
          <p:nvPr/>
        </p:nvSpPr>
        <p:spPr>
          <a:xfrm>
            <a:off x="6096000" y="1600200"/>
            <a:ext cx="2590800" cy="20320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DC451CF-9465-37DC-DB0B-E3BF3C4A7EF3}"/>
              </a:ext>
            </a:extLst>
          </p:cNvPr>
          <p:cNvSpPr txBox="1"/>
          <p:nvPr/>
        </p:nvSpPr>
        <p:spPr>
          <a:xfrm>
            <a:off x="6273800" y="1752600"/>
            <a:ext cx="22352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链上层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822CB59-24D9-6F66-1D19-391B29AF0CB2}"/>
              </a:ext>
            </a:extLst>
          </p:cNvPr>
          <p:cNvSpPr txBox="1"/>
          <p:nvPr/>
        </p:nvSpPr>
        <p:spPr>
          <a:xfrm>
            <a:off x="6273800" y="2184400"/>
            <a:ext cx="2235200" cy="610424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Solidity + Hardhat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实现 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铸造、上架、购买、所有权转移与基础查询。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A216FD-A920-8505-C07D-83C0B8644657}"/>
              </a:ext>
            </a:extLst>
          </p:cNvPr>
          <p:cNvSpPr/>
          <p:nvPr/>
        </p:nvSpPr>
        <p:spPr>
          <a:xfrm>
            <a:off x="8915400" y="1600200"/>
            <a:ext cx="2819400" cy="20320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9D65BD9-1DB2-82EE-669E-8D58A3338E27}"/>
              </a:ext>
            </a:extLst>
          </p:cNvPr>
          <p:cNvSpPr txBox="1"/>
          <p:nvPr/>
        </p:nvSpPr>
        <p:spPr>
          <a:xfrm>
            <a:off x="9093200" y="1752600"/>
            <a:ext cx="24638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存储层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85298B3-430E-0CF3-4E7C-126DF5FADD9C}"/>
              </a:ext>
            </a:extLst>
          </p:cNvPr>
          <p:cNvSpPr txBox="1"/>
          <p:nvPr/>
        </p:nvSpPr>
        <p:spPr>
          <a:xfrm>
            <a:off x="9093200" y="2184400"/>
            <a:ext cx="2463800" cy="610424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MySQL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负责链下业务数据；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Pinata/IPFS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负责媒体文件与元数据持久化。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EE51FF7-BE15-E403-67DA-11A5FC28B2D8}"/>
              </a:ext>
            </a:extLst>
          </p:cNvPr>
          <p:cNvSpPr/>
          <p:nvPr/>
        </p:nvSpPr>
        <p:spPr>
          <a:xfrm>
            <a:off x="457200" y="4038600"/>
            <a:ext cx="5461000" cy="1676400"/>
          </a:xfrm>
          <a:prstGeom prst="rect">
            <a:avLst/>
          </a:prstGeom>
          <a:solidFill>
            <a:srgbClr val="0F18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229A9DD-9906-0866-AE0F-3C22FC6C4A82}"/>
              </a:ext>
            </a:extLst>
          </p:cNvPr>
          <p:cNvSpPr txBox="1"/>
          <p:nvPr/>
        </p:nvSpPr>
        <p:spPr>
          <a:xfrm>
            <a:off x="635000" y="4191000"/>
            <a:ext cx="51054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链上负责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13D5E09-A0D2-5D9F-D504-6BD109AC135D}"/>
              </a:ext>
            </a:extLst>
          </p:cNvPr>
          <p:cNvSpPr txBox="1"/>
          <p:nvPr/>
        </p:nvSpPr>
        <p:spPr>
          <a:xfrm>
            <a:off x="635000" y="4622800"/>
            <a:ext cx="5105400" cy="779701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NFT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唯一性确权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Token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铸造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上架价格记录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原生代币购买与所有权转移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F12C23F-F4F2-C4FE-94DE-C13835B72AEA}"/>
              </a:ext>
            </a:extLst>
          </p:cNvPr>
          <p:cNvSpPr/>
          <p:nvPr/>
        </p:nvSpPr>
        <p:spPr>
          <a:xfrm>
            <a:off x="6273800" y="4038600"/>
            <a:ext cx="5461000" cy="1676400"/>
          </a:xfrm>
          <a:prstGeom prst="rect">
            <a:avLst/>
          </a:prstGeom>
          <a:solidFill>
            <a:srgbClr val="0F18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0754ED0-EC57-4711-807C-2EADE0190568}"/>
              </a:ext>
            </a:extLst>
          </p:cNvPr>
          <p:cNvSpPr txBox="1"/>
          <p:nvPr/>
        </p:nvSpPr>
        <p:spPr>
          <a:xfrm>
            <a:off x="6451600" y="4191000"/>
            <a:ext cx="51054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链下负责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62FF029-9298-017B-2BFB-D83F65AFEA91}"/>
              </a:ext>
            </a:extLst>
          </p:cNvPr>
          <p:cNvSpPr txBox="1"/>
          <p:nvPr/>
        </p:nvSpPr>
        <p:spPr>
          <a:xfrm>
            <a:off x="6451600" y="4622800"/>
            <a:ext cx="5105400" cy="779701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用户会话与资料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市场筛选与展示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订单记录与资产管理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页面响应与业务体验优化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6B43D40-39EF-7F7C-8D73-120D6A7356A0}"/>
              </a:ext>
            </a:extLst>
          </p:cNvPr>
          <p:cNvSpPr txBox="1"/>
          <p:nvPr/>
        </p:nvSpPr>
        <p:spPr>
          <a:xfrm>
            <a:off x="457200" y="6451600"/>
            <a:ext cx="8890000" cy="24109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9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系统架构 </a:t>
            </a:r>
            <a:r>
              <a:rPr lang="en-US" altLang="zh-CN" sz="9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</a:t>
            </a:r>
            <a:r>
              <a:rPr lang="zh-CN" altLang="en-US" sz="9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链上 </a:t>
            </a:r>
            <a:r>
              <a:rPr lang="en-US" altLang="zh-CN" sz="9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9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链下协同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C15428B-D550-7428-6166-3379427D0F33}"/>
              </a:ext>
            </a:extLst>
          </p:cNvPr>
          <p:cNvSpPr txBox="1"/>
          <p:nvPr/>
        </p:nvSpPr>
        <p:spPr>
          <a:xfrm>
            <a:off x="11430000" y="6426200"/>
            <a:ext cx="355600" cy="25648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000" b="1">
              <a:solidFill>
                <a:srgbClr val="AABAD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5201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15602CE-A7D4-116B-C573-C901BA270FD4}"/>
              </a:ext>
            </a:extLst>
          </p:cNvPr>
          <p:cNvSpPr txBox="1"/>
          <p:nvPr/>
        </p:nvSpPr>
        <p:spPr>
          <a:xfrm>
            <a:off x="457200" y="457200"/>
            <a:ext cx="52070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2600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2600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技术栈与仓库结构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89F6AF-4122-340E-B5B5-315791DA5BB6}"/>
              </a:ext>
            </a:extLst>
          </p:cNvPr>
          <p:cNvSpPr/>
          <p:nvPr/>
        </p:nvSpPr>
        <p:spPr>
          <a:xfrm>
            <a:off x="457200" y="1295400"/>
            <a:ext cx="2667000" cy="20320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AED3DC-0F0E-F36D-562C-1E1EB32AC32C}"/>
              </a:ext>
            </a:extLst>
          </p:cNvPr>
          <p:cNvSpPr txBox="1"/>
          <p:nvPr/>
        </p:nvSpPr>
        <p:spPr>
          <a:xfrm>
            <a:off x="635000" y="1447800"/>
            <a:ext cx="23114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frontend</a:t>
            </a:r>
            <a:endParaRPr lang="zh-CN" altLang="en-US" b="1">
              <a:solidFill>
                <a:srgbClr val="F8FA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E2D2A8E-1D53-70FB-14CA-DE384C6F0AE3}"/>
              </a:ext>
            </a:extLst>
          </p:cNvPr>
          <p:cNvSpPr txBox="1"/>
          <p:nvPr/>
        </p:nvSpPr>
        <p:spPr>
          <a:xfrm>
            <a:off x="635000" y="1879600"/>
            <a:ext cx="2311400" cy="948978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Next.js 14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React 18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Tailwind CSS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Axios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Ethers.js</a:t>
            </a:r>
            <a:endParaRPr lang="zh-CN" altLang="en-US" sz="1100">
              <a:solidFill>
                <a:srgbClr val="AABAD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4DA6709-616B-2010-3E93-C526500215CD}"/>
              </a:ext>
            </a:extLst>
          </p:cNvPr>
          <p:cNvSpPr/>
          <p:nvPr/>
        </p:nvSpPr>
        <p:spPr>
          <a:xfrm>
            <a:off x="3378200" y="1295400"/>
            <a:ext cx="2667000" cy="20320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C52621-B0CF-091E-792D-B7447F2B99FF}"/>
              </a:ext>
            </a:extLst>
          </p:cNvPr>
          <p:cNvSpPr txBox="1"/>
          <p:nvPr/>
        </p:nvSpPr>
        <p:spPr>
          <a:xfrm>
            <a:off x="3556000" y="1447800"/>
            <a:ext cx="23114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backend</a:t>
            </a:r>
            <a:endParaRPr lang="zh-CN" altLang="en-US" b="1">
              <a:solidFill>
                <a:srgbClr val="F8FA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A81990-B0B4-C493-5F0D-254928432154}"/>
              </a:ext>
            </a:extLst>
          </p:cNvPr>
          <p:cNvSpPr txBox="1"/>
          <p:nvPr/>
        </p:nvSpPr>
        <p:spPr>
          <a:xfrm>
            <a:off x="3556000" y="1879600"/>
            <a:ext cx="2311400" cy="948978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Go 1.22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Gorilla Mux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GORM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MySQL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JWT</a:t>
            </a:r>
            <a:endParaRPr lang="zh-CN" altLang="en-US" sz="1100">
              <a:solidFill>
                <a:srgbClr val="AABAD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2DF3B16-9B33-87E3-972C-334CC42316CA}"/>
              </a:ext>
            </a:extLst>
          </p:cNvPr>
          <p:cNvSpPr/>
          <p:nvPr/>
        </p:nvSpPr>
        <p:spPr>
          <a:xfrm>
            <a:off x="6299200" y="1295400"/>
            <a:ext cx="2667000" cy="20320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08D14C8-AC12-FAB8-B503-B9A06DF1594D}"/>
              </a:ext>
            </a:extLst>
          </p:cNvPr>
          <p:cNvSpPr txBox="1"/>
          <p:nvPr/>
        </p:nvSpPr>
        <p:spPr>
          <a:xfrm>
            <a:off x="6477000" y="1447800"/>
            <a:ext cx="23114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contracts</a:t>
            </a:r>
            <a:endParaRPr lang="zh-CN" altLang="en-US" b="1">
              <a:solidFill>
                <a:srgbClr val="F8FA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9BA3596-211F-F064-A6BE-EDFDE8E95DFA}"/>
              </a:ext>
            </a:extLst>
          </p:cNvPr>
          <p:cNvSpPr txBox="1"/>
          <p:nvPr/>
        </p:nvSpPr>
        <p:spPr>
          <a:xfrm>
            <a:off x="6477000" y="1879600"/>
            <a:ext cx="2311400" cy="779701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Solidity 0.8.24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OpenZeppelin ERC721URIStorage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基础交易逻辑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A52D737-47C3-FB3E-1308-A1F5513FFBEC}"/>
              </a:ext>
            </a:extLst>
          </p:cNvPr>
          <p:cNvSpPr/>
          <p:nvPr/>
        </p:nvSpPr>
        <p:spPr>
          <a:xfrm>
            <a:off x="9220200" y="1295400"/>
            <a:ext cx="2514600" cy="20320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A2C41D-8E5B-2F39-6BEF-E36B70FF5C96}"/>
              </a:ext>
            </a:extLst>
          </p:cNvPr>
          <p:cNvSpPr txBox="1"/>
          <p:nvPr/>
        </p:nvSpPr>
        <p:spPr>
          <a:xfrm>
            <a:off x="9398000" y="1447800"/>
            <a:ext cx="21590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hardhat</a:t>
            </a:r>
            <a:endParaRPr lang="zh-CN" altLang="en-US" b="1">
              <a:solidFill>
                <a:srgbClr val="F8FA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D206A62-860B-FFFC-7572-EBF9F9D332F3}"/>
              </a:ext>
            </a:extLst>
          </p:cNvPr>
          <p:cNvSpPr txBox="1"/>
          <p:nvPr/>
        </p:nvSpPr>
        <p:spPr>
          <a:xfrm>
            <a:off x="9398000" y="1879600"/>
            <a:ext cx="2159000" cy="779701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合约编译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部署脚本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连接 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Sepolia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测试网验证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C250C0-5053-48B6-DB35-9A49FECD702D}"/>
              </a:ext>
            </a:extLst>
          </p:cNvPr>
          <p:cNvSpPr/>
          <p:nvPr/>
        </p:nvSpPr>
        <p:spPr>
          <a:xfrm>
            <a:off x="457200" y="3708400"/>
            <a:ext cx="11277600" cy="2032000"/>
          </a:xfrm>
          <a:prstGeom prst="rect">
            <a:avLst/>
          </a:prstGeom>
          <a:solidFill>
            <a:srgbClr val="0F18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8B55D60-C57B-93AA-01F0-5A11496BE70B}"/>
              </a:ext>
            </a:extLst>
          </p:cNvPr>
          <p:cNvSpPr txBox="1"/>
          <p:nvPr/>
        </p:nvSpPr>
        <p:spPr>
          <a:xfrm>
            <a:off x="635000" y="3860800"/>
            <a:ext cx="109220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技术选型思路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A1D20B7-B383-C9B2-7882-E196600F2480}"/>
              </a:ext>
            </a:extLst>
          </p:cNvPr>
          <p:cNvSpPr txBox="1"/>
          <p:nvPr/>
        </p:nvSpPr>
        <p:spPr>
          <a:xfrm>
            <a:off x="635000" y="4292600"/>
            <a:ext cx="10922000" cy="44114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前端负责高交互与钱包接入，后端负责鉴权与业务聚合，链上负责可信交易，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IPFS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负责资源与元数据持久化。整个仓库已经形成清晰的模块边界，便于后续继续扩展排行榜、后台管理和事件监听。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6B57025-2E77-81B3-2A1F-02D6E551EA02}"/>
              </a:ext>
            </a:extLst>
          </p:cNvPr>
          <p:cNvSpPr txBox="1"/>
          <p:nvPr/>
        </p:nvSpPr>
        <p:spPr>
          <a:xfrm>
            <a:off x="457200" y="6451600"/>
            <a:ext cx="8890000" cy="24109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9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技术栈与模块边界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6F36400-F3FA-B1C7-0986-E0DCC832063B}"/>
              </a:ext>
            </a:extLst>
          </p:cNvPr>
          <p:cNvSpPr txBox="1"/>
          <p:nvPr/>
        </p:nvSpPr>
        <p:spPr>
          <a:xfrm>
            <a:off x="11430000" y="6426200"/>
            <a:ext cx="355600" cy="25648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000" b="1">
              <a:solidFill>
                <a:srgbClr val="AABAD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5883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DEDA5C5-3D58-2089-C78A-3171D260FA2E}"/>
              </a:ext>
            </a:extLst>
          </p:cNvPr>
          <p:cNvSpPr txBox="1"/>
          <p:nvPr/>
        </p:nvSpPr>
        <p:spPr>
          <a:xfrm>
            <a:off x="457200" y="457200"/>
            <a:ext cx="60960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2600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 </a:t>
            </a:r>
            <a:r>
              <a:rPr lang="zh-CN" altLang="en-US" sz="2600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核心业务闭环总览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6DD2574-911E-13B4-C007-80F28B4346DD}"/>
              </a:ext>
            </a:extLst>
          </p:cNvPr>
          <p:cNvSpPr txBox="1"/>
          <p:nvPr/>
        </p:nvSpPr>
        <p:spPr>
          <a:xfrm>
            <a:off x="457200" y="1016000"/>
            <a:ext cx="7112000" cy="302647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300" b="1">
                <a:solidFill>
                  <a:srgbClr val="2DC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答辩时要反复强调「闭环」，而不是只展示单个页面。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EF0BEE-F89C-A00C-70E7-27743244755B}"/>
              </a:ext>
            </a:extLst>
          </p:cNvPr>
          <p:cNvSpPr/>
          <p:nvPr/>
        </p:nvSpPr>
        <p:spPr>
          <a:xfrm>
            <a:off x="457200" y="1574800"/>
            <a:ext cx="2603500" cy="31750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2686F4-2C14-F1D2-15A9-94C55D2D575C}"/>
              </a:ext>
            </a:extLst>
          </p:cNvPr>
          <p:cNvSpPr txBox="1"/>
          <p:nvPr/>
        </p:nvSpPr>
        <p:spPr>
          <a:xfrm>
            <a:off x="635000" y="1727200"/>
            <a:ext cx="22479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登录闭环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BC69D67-4280-E0BD-2A73-AD9DA09D4E5D}"/>
              </a:ext>
            </a:extLst>
          </p:cNvPr>
          <p:cNvSpPr txBox="1"/>
          <p:nvPr/>
        </p:nvSpPr>
        <p:spPr>
          <a:xfrm>
            <a:off x="635000" y="2159000"/>
            <a:ext cx="2247900" cy="110799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连接钱包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→ 请求 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nonce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→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钱包签名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→ 后端验签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→ 签发 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JWT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→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进入个人中心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8C2A1E5-F509-28FA-8E00-B0B412AB5E0A}"/>
              </a:ext>
            </a:extLst>
          </p:cNvPr>
          <p:cNvSpPr/>
          <p:nvPr/>
        </p:nvSpPr>
        <p:spPr>
          <a:xfrm>
            <a:off x="3276600" y="1574800"/>
            <a:ext cx="2603500" cy="31750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DE5CD0-59F8-329A-312E-B5F6B127C5C0}"/>
              </a:ext>
            </a:extLst>
          </p:cNvPr>
          <p:cNvSpPr txBox="1"/>
          <p:nvPr/>
        </p:nvSpPr>
        <p:spPr>
          <a:xfrm>
            <a:off x="3454400" y="1727200"/>
            <a:ext cx="22479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创建闭环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52D8E9D-E060-5A34-1A06-A88EBBE9D71F}"/>
              </a:ext>
            </a:extLst>
          </p:cNvPr>
          <p:cNvSpPr txBox="1"/>
          <p:nvPr/>
        </p:nvSpPr>
        <p:spPr>
          <a:xfrm>
            <a:off x="3454400" y="2159000"/>
            <a:ext cx="2247900" cy="948978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填写信息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→ 上传媒体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→ 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IPFS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生成资源与元数据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→ 钱包发起铸造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→ 后端写入 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记录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4A8461-857E-C653-2292-9CE4BCB8B071}"/>
              </a:ext>
            </a:extLst>
          </p:cNvPr>
          <p:cNvSpPr/>
          <p:nvPr/>
        </p:nvSpPr>
        <p:spPr>
          <a:xfrm>
            <a:off x="6096000" y="1574800"/>
            <a:ext cx="2603500" cy="31750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87111BC-AF4A-974C-2D49-A435485D124E}"/>
              </a:ext>
            </a:extLst>
          </p:cNvPr>
          <p:cNvSpPr txBox="1"/>
          <p:nvPr/>
        </p:nvSpPr>
        <p:spPr>
          <a:xfrm>
            <a:off x="6273800" y="1727200"/>
            <a:ext cx="22479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购买闭环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797022A-8112-715F-10EC-7E865D57778B}"/>
              </a:ext>
            </a:extLst>
          </p:cNvPr>
          <p:cNvSpPr txBox="1"/>
          <p:nvPr/>
        </p:nvSpPr>
        <p:spPr>
          <a:xfrm>
            <a:off x="6273800" y="2159000"/>
            <a:ext cx="2247900" cy="110799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详情页查看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→ 钱包确认交易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→ 链上 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buy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→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返回 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txHash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→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后端创建订单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→ 更新 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owner</a:t>
            </a:r>
            <a:endParaRPr lang="zh-CN" altLang="en-US" sz="1100">
              <a:solidFill>
                <a:srgbClr val="AABAD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5730781-1FB0-71C6-0363-EC7458A33361}"/>
              </a:ext>
            </a:extLst>
          </p:cNvPr>
          <p:cNvSpPr/>
          <p:nvPr/>
        </p:nvSpPr>
        <p:spPr>
          <a:xfrm>
            <a:off x="8915400" y="1574800"/>
            <a:ext cx="2819400" cy="31750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943C859-6DCB-1788-8199-EAE74A392485}"/>
              </a:ext>
            </a:extLst>
          </p:cNvPr>
          <p:cNvSpPr txBox="1"/>
          <p:nvPr/>
        </p:nvSpPr>
        <p:spPr>
          <a:xfrm>
            <a:off x="9093200" y="1727200"/>
            <a:ext cx="24638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资产管理闭环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AB2870A-0906-34E7-FA86-B2E39417155C}"/>
              </a:ext>
            </a:extLst>
          </p:cNvPr>
          <p:cNvSpPr txBox="1"/>
          <p:nvPr/>
        </p:nvSpPr>
        <p:spPr>
          <a:xfrm>
            <a:off x="9093200" y="2159000"/>
            <a:ext cx="2463800" cy="948978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个人中心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→ 当前持有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→ 历史买入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→ 历史卖出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→ 用户名与头像维护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BE56203-F2EF-2ADC-7A81-E06D91FFFA7F}"/>
              </a:ext>
            </a:extLst>
          </p:cNvPr>
          <p:cNvSpPr txBox="1"/>
          <p:nvPr/>
        </p:nvSpPr>
        <p:spPr>
          <a:xfrm>
            <a:off x="457200" y="6451600"/>
            <a:ext cx="8890000" cy="24109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9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中期汇报关键词：业务闭环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C00383F-85CB-0269-013A-ECD71B8897F6}"/>
              </a:ext>
            </a:extLst>
          </p:cNvPr>
          <p:cNvSpPr txBox="1"/>
          <p:nvPr/>
        </p:nvSpPr>
        <p:spPr>
          <a:xfrm>
            <a:off x="11430000" y="6426200"/>
            <a:ext cx="355600" cy="25648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1000" b="1">
              <a:solidFill>
                <a:srgbClr val="AABAD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2773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F1181B2-1660-7C5C-1A18-DB12350A239E}"/>
              </a:ext>
            </a:extLst>
          </p:cNvPr>
          <p:cNvSpPr/>
          <p:nvPr/>
        </p:nvSpPr>
        <p:spPr>
          <a:xfrm>
            <a:off x="457200" y="431800"/>
            <a:ext cx="1092200" cy="101600"/>
          </a:xfrm>
          <a:prstGeom prst="rect">
            <a:avLst/>
          </a:prstGeom>
          <a:solidFill>
            <a:srgbClr val="2DC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601610-7008-12A5-C789-89C1FB33D2E7}"/>
              </a:ext>
            </a:extLst>
          </p:cNvPr>
          <p:cNvSpPr txBox="1"/>
          <p:nvPr/>
        </p:nvSpPr>
        <p:spPr>
          <a:xfrm>
            <a:off x="457200" y="609600"/>
            <a:ext cx="99060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2600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 </a:t>
            </a:r>
            <a:r>
              <a:rPr lang="zh-CN" altLang="en-US" sz="2600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身份认证与用户模块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9FCE6B-2F3D-7C2A-B254-69D3BB186DC8}"/>
              </a:ext>
            </a:extLst>
          </p:cNvPr>
          <p:cNvSpPr txBox="1"/>
          <p:nvPr/>
        </p:nvSpPr>
        <p:spPr>
          <a:xfrm>
            <a:off x="558800" y="1371600"/>
            <a:ext cx="11074400" cy="2400657"/>
          </a:xfrm>
          <a:prstGeom prst="rect">
            <a:avLst/>
          </a:prstGeom>
          <a:solidFill>
            <a:srgbClr val="131F3A"/>
          </a:solidFill>
        </p:spPr>
        <p:txBody>
          <a:bodyPr vert="horz" lIns="279400" tIns="228600" rIns="279400" bIns="228600" rtlCol="0">
            <a:spAutoFit/>
          </a:bodyPr>
          <a:lstStyle/>
          <a:p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当前系统已收口为钱包签名登录，避免多套身份体系并行带来的复杂度。</a:t>
            </a:r>
          </a:p>
          <a:p>
            <a:endParaRPr lang="zh-CN" altLang="en-US">
              <a:solidFill>
                <a:srgbClr val="F8FA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登录流程为：后端生成 </a:t>
            </a:r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nonce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，前端调用 </a:t>
            </a:r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personal_sign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，后端恢复地址并签发 </a:t>
            </a:r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JWT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  <a:p>
            <a:endParaRPr lang="zh-CN" altLang="en-US">
              <a:solidFill>
                <a:srgbClr val="F8FA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这种方式比「只读取钱包地址就登录」更规范，也更符合 </a:t>
            </a:r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Web3 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身份验证思路。</a:t>
            </a:r>
          </a:p>
          <a:p>
            <a:endParaRPr lang="zh-CN" altLang="en-US">
              <a:solidFill>
                <a:srgbClr val="F8FA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个人中心支持用户名修改、头像上传和钱包地址展示，形成基础用户资料管理能力。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965F364-F6E7-97F8-8813-6B65D6EC3BB8}"/>
              </a:ext>
            </a:extLst>
          </p:cNvPr>
          <p:cNvSpPr txBox="1"/>
          <p:nvPr/>
        </p:nvSpPr>
        <p:spPr>
          <a:xfrm>
            <a:off x="457200" y="6451600"/>
            <a:ext cx="8890000" cy="24109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900">
                <a:solidFill>
                  <a:srgbClr val="B0BFE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身份认证模块 </a:t>
            </a:r>
            <a:r>
              <a:rPr lang="en-US" altLang="zh-CN" sz="900">
                <a:solidFill>
                  <a:srgbClr val="B0BFE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</a:t>
            </a:r>
            <a:r>
              <a:rPr lang="zh-CN" altLang="en-US" sz="900">
                <a:solidFill>
                  <a:srgbClr val="B0BFE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钱包登录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4733BD-C9ED-A468-BA94-48F70BB587A9}"/>
              </a:ext>
            </a:extLst>
          </p:cNvPr>
          <p:cNvSpPr txBox="1"/>
          <p:nvPr/>
        </p:nvSpPr>
        <p:spPr>
          <a:xfrm>
            <a:off x="11430000" y="6426200"/>
            <a:ext cx="355600" cy="25648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B0BFE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endParaRPr lang="zh-CN" altLang="en-US" sz="1000" b="1">
              <a:solidFill>
                <a:srgbClr val="B0BFE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3164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CC72884-3594-037B-C211-2F2CAE561673}"/>
              </a:ext>
            </a:extLst>
          </p:cNvPr>
          <p:cNvSpPr/>
          <p:nvPr/>
        </p:nvSpPr>
        <p:spPr>
          <a:xfrm>
            <a:off x="457200" y="431800"/>
            <a:ext cx="1092200" cy="101600"/>
          </a:xfrm>
          <a:prstGeom prst="rect">
            <a:avLst/>
          </a:prstGeom>
          <a:solidFill>
            <a:srgbClr val="2DC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90D4B8B-DCEF-B425-93FD-4CA88D1044E8}"/>
              </a:ext>
            </a:extLst>
          </p:cNvPr>
          <p:cNvSpPr txBox="1"/>
          <p:nvPr/>
        </p:nvSpPr>
        <p:spPr>
          <a:xfrm>
            <a:off x="457200" y="609600"/>
            <a:ext cx="99060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2600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6. NFT </a:t>
            </a:r>
            <a:r>
              <a:rPr lang="zh-CN" altLang="en-US" sz="2600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创建流程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5A1039-79C4-EF04-1F21-A2990BD476B6}"/>
              </a:ext>
            </a:extLst>
          </p:cNvPr>
          <p:cNvSpPr txBox="1"/>
          <p:nvPr/>
        </p:nvSpPr>
        <p:spPr>
          <a:xfrm>
            <a:off x="558800" y="1371600"/>
            <a:ext cx="11074400" cy="2954655"/>
          </a:xfrm>
          <a:prstGeom prst="rect">
            <a:avLst/>
          </a:prstGeom>
          <a:solidFill>
            <a:srgbClr val="131F3A"/>
          </a:solidFill>
        </p:spPr>
        <p:txBody>
          <a:bodyPr vert="horz" lIns="279400" tIns="228600" rIns="279400" bIns="228600" rtlCol="0">
            <a:spAutoFit/>
          </a:bodyPr>
          <a:lstStyle/>
          <a:p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创建页支持名称、描述、分类、价格以及图片</a:t>
            </a:r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音频</a:t>
            </a:r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视频文件上传。</a:t>
            </a:r>
          </a:p>
          <a:p>
            <a:endParaRPr lang="zh-CN" altLang="en-US">
              <a:solidFill>
                <a:srgbClr val="F8FA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音频和视频类型可额外上传封面图，提升展示完整度。</a:t>
            </a:r>
          </a:p>
          <a:p>
            <a:endParaRPr lang="zh-CN" altLang="en-US">
              <a:solidFill>
                <a:srgbClr val="F8FA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后端先把资源上传到 </a:t>
            </a:r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Pinata/IPFS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，并自动生成元数据 </a:t>
            </a:r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JSON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  <a:p>
            <a:endParaRPr lang="zh-CN" altLang="en-US">
              <a:solidFill>
                <a:srgbClr val="F8FA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前端再调用合约执行铸造；如果设置价格，则直接走「铸造并上架」流程。</a:t>
            </a:r>
          </a:p>
          <a:p>
            <a:endParaRPr lang="zh-CN" altLang="en-US">
              <a:solidFill>
                <a:srgbClr val="F8FA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链上确认完成后，前端把合约地址、</a:t>
            </a:r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TokenId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TokenURI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metadataUri 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等信息同步到后端。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C9B2AD-287A-5B1E-CC3B-AA6C33346248}"/>
              </a:ext>
            </a:extLst>
          </p:cNvPr>
          <p:cNvSpPr txBox="1"/>
          <p:nvPr/>
        </p:nvSpPr>
        <p:spPr>
          <a:xfrm>
            <a:off x="457200" y="6451600"/>
            <a:ext cx="8890000" cy="24109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900">
                <a:solidFill>
                  <a:srgbClr val="B0BFE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创建模块 </a:t>
            </a:r>
            <a:r>
              <a:rPr lang="en-US" altLang="zh-CN" sz="900">
                <a:solidFill>
                  <a:srgbClr val="B0BFE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</a:t>
            </a:r>
            <a:r>
              <a:rPr lang="zh-CN" altLang="en-US" sz="900">
                <a:solidFill>
                  <a:srgbClr val="B0BFE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文件 </a:t>
            </a:r>
            <a:r>
              <a:rPr lang="en-US" altLang="zh-CN" sz="900">
                <a:solidFill>
                  <a:srgbClr val="B0BFE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-&gt; IPFS -&gt; </a:t>
            </a:r>
            <a:r>
              <a:rPr lang="zh-CN" altLang="en-US" sz="900">
                <a:solidFill>
                  <a:srgbClr val="B0BFE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链上 </a:t>
            </a:r>
            <a:r>
              <a:rPr lang="en-US" altLang="zh-CN" sz="900">
                <a:solidFill>
                  <a:srgbClr val="B0BFE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-&gt; </a:t>
            </a:r>
            <a:r>
              <a:rPr lang="zh-CN" altLang="en-US" sz="900">
                <a:solidFill>
                  <a:srgbClr val="B0BFE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355057-41E4-2B88-839A-B535A1A84744}"/>
              </a:ext>
            </a:extLst>
          </p:cNvPr>
          <p:cNvSpPr txBox="1"/>
          <p:nvPr/>
        </p:nvSpPr>
        <p:spPr>
          <a:xfrm>
            <a:off x="11430000" y="6426200"/>
            <a:ext cx="355600" cy="25648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B0BFE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endParaRPr lang="zh-CN" altLang="en-US" sz="1000" b="1">
              <a:solidFill>
                <a:srgbClr val="B0BFE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2765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713B1C6-47AA-CB4D-252C-72840B22FD80}"/>
              </a:ext>
            </a:extLst>
          </p:cNvPr>
          <p:cNvSpPr/>
          <p:nvPr/>
        </p:nvSpPr>
        <p:spPr>
          <a:xfrm>
            <a:off x="457200" y="431800"/>
            <a:ext cx="1092200" cy="101600"/>
          </a:xfrm>
          <a:prstGeom prst="rect">
            <a:avLst/>
          </a:prstGeom>
          <a:solidFill>
            <a:srgbClr val="2DC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45362E-9318-D573-23B1-FE164C0C4F39}"/>
              </a:ext>
            </a:extLst>
          </p:cNvPr>
          <p:cNvSpPr txBox="1"/>
          <p:nvPr/>
        </p:nvSpPr>
        <p:spPr>
          <a:xfrm>
            <a:off x="457200" y="609600"/>
            <a:ext cx="99060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2600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7. </a:t>
            </a:r>
            <a:r>
              <a:rPr lang="zh-CN" altLang="en-US" sz="2600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市场展示与详情交易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4B861A-FCFC-8EE2-040F-96EE4AB6C563}"/>
              </a:ext>
            </a:extLst>
          </p:cNvPr>
          <p:cNvSpPr txBox="1"/>
          <p:nvPr/>
        </p:nvSpPr>
        <p:spPr>
          <a:xfrm>
            <a:off x="558800" y="1371600"/>
            <a:ext cx="11074400" cy="2400657"/>
          </a:xfrm>
          <a:prstGeom prst="rect">
            <a:avLst/>
          </a:prstGeom>
          <a:solidFill>
            <a:srgbClr val="131F3A"/>
          </a:solidFill>
        </p:spPr>
        <p:txBody>
          <a:bodyPr vert="horz" lIns="279400" tIns="228600" rIns="279400" bIns="228600" rtlCol="0">
            <a:spAutoFit/>
          </a:bodyPr>
          <a:lstStyle/>
          <a:p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首页会展示在售数量、地板价、平均价和热门分类，承担市场概览作用。</a:t>
            </a:r>
          </a:p>
          <a:p>
            <a:endParaRPr lang="zh-CN" altLang="en-US">
              <a:solidFill>
                <a:srgbClr val="F8FA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市场页支持分类筛选、关键词检索、价格区间过滤与多种排序方式。</a:t>
            </a:r>
          </a:p>
          <a:p>
            <a:endParaRPr lang="zh-CN" altLang="en-US">
              <a:solidFill>
                <a:srgbClr val="F8FA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详情页会根据媒体类型自适应展示图片、音频和视频内容。</a:t>
            </a:r>
          </a:p>
          <a:p>
            <a:endParaRPr lang="zh-CN" altLang="en-US">
              <a:solidFill>
                <a:srgbClr val="F8FA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普通用户可直接购买，拥有者可更新价格、重新上架或下架，页面同时展示成交记录与交易哈希。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F8A6512-C6A3-520A-44FB-993C837CA4FE}"/>
              </a:ext>
            </a:extLst>
          </p:cNvPr>
          <p:cNvSpPr txBox="1"/>
          <p:nvPr/>
        </p:nvSpPr>
        <p:spPr>
          <a:xfrm>
            <a:off x="457200" y="6451600"/>
            <a:ext cx="8890000" cy="24109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900">
                <a:solidFill>
                  <a:srgbClr val="B0BFE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市场与详情页 </a:t>
            </a:r>
            <a:r>
              <a:rPr lang="en-US" altLang="zh-CN" sz="900">
                <a:solidFill>
                  <a:srgbClr val="B0BFE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</a:t>
            </a:r>
            <a:r>
              <a:rPr lang="zh-CN" altLang="en-US" sz="900">
                <a:solidFill>
                  <a:srgbClr val="B0BFE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展示 </a:t>
            </a:r>
            <a:r>
              <a:rPr lang="en-US" altLang="zh-CN" sz="900">
                <a:solidFill>
                  <a:srgbClr val="B0BFE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900">
                <a:solidFill>
                  <a:srgbClr val="B0BFE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交易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DB04A1-D7FB-BD02-6F3C-68D43C227514}"/>
              </a:ext>
            </a:extLst>
          </p:cNvPr>
          <p:cNvSpPr txBox="1"/>
          <p:nvPr/>
        </p:nvSpPr>
        <p:spPr>
          <a:xfrm>
            <a:off x="11430000" y="6426200"/>
            <a:ext cx="355600" cy="25648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B0BFE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endParaRPr lang="zh-CN" altLang="en-US" sz="1000" b="1">
              <a:solidFill>
                <a:srgbClr val="B0BFE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581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F7A8225-67A6-9E3D-D23A-878610F296E4}"/>
              </a:ext>
            </a:extLst>
          </p:cNvPr>
          <p:cNvSpPr/>
          <p:nvPr/>
        </p:nvSpPr>
        <p:spPr>
          <a:xfrm>
            <a:off x="457200" y="431800"/>
            <a:ext cx="1092200" cy="101600"/>
          </a:xfrm>
          <a:prstGeom prst="rect">
            <a:avLst/>
          </a:prstGeom>
          <a:solidFill>
            <a:srgbClr val="2DC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F179CD-F288-934B-45AD-B48DE74B8542}"/>
              </a:ext>
            </a:extLst>
          </p:cNvPr>
          <p:cNvSpPr txBox="1"/>
          <p:nvPr/>
        </p:nvSpPr>
        <p:spPr>
          <a:xfrm>
            <a:off x="457200" y="609600"/>
            <a:ext cx="99060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2600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8. </a:t>
            </a:r>
            <a:r>
              <a:rPr lang="zh-CN" altLang="en-US" sz="2600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订单与个人资产管理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875271C-870B-DC4A-7F60-23E8AA940574}"/>
              </a:ext>
            </a:extLst>
          </p:cNvPr>
          <p:cNvSpPr txBox="1"/>
          <p:nvPr/>
        </p:nvSpPr>
        <p:spPr>
          <a:xfrm>
            <a:off x="558800" y="1371600"/>
            <a:ext cx="11074400" cy="2400657"/>
          </a:xfrm>
          <a:prstGeom prst="rect">
            <a:avLst/>
          </a:prstGeom>
          <a:solidFill>
            <a:srgbClr val="131F3A"/>
          </a:solidFill>
        </p:spPr>
        <p:txBody>
          <a:bodyPr vert="horz" lIns="279400" tIns="228600" rIns="279400" bIns="228600" rtlCol="0">
            <a:spAutoFit/>
          </a:bodyPr>
          <a:lstStyle/>
          <a:p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后端订单模块支持创建订单、查询买入记录、查询卖出记录和查看某个 </a:t>
            </a:r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 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的历史成交记录。</a:t>
            </a:r>
          </a:p>
          <a:p>
            <a:endParaRPr lang="zh-CN" altLang="en-US">
              <a:solidFill>
                <a:srgbClr val="F8FA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个人中心对 </a:t>
            </a:r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、订单和用户资料进行了统一聚合，具备基础资产管理界面。</a:t>
            </a:r>
          </a:p>
          <a:p>
            <a:endParaRPr lang="zh-CN" altLang="en-US">
              <a:solidFill>
                <a:srgbClr val="F8FA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当前已经修正了「买入历史在转卖后消失」的问题，历史记录保持独立于当前 </a:t>
            </a:r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owner 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状态。</a:t>
            </a:r>
          </a:p>
          <a:p>
            <a:endParaRPr lang="zh-CN" altLang="en-US">
              <a:solidFill>
                <a:srgbClr val="F8FA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这部分让项目从「能发 </a:t>
            </a:r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」升级为「能管理 </a:t>
            </a:r>
            <a:r>
              <a:rPr lang="en-US" altLang="zh-CN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 </a:t>
            </a:r>
            <a:r>
              <a:rPr lang="zh-CN" altLang="en-US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资产」的平台原型。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2B9887-DCBC-9410-30CB-B0B4E3311EFA}"/>
              </a:ext>
            </a:extLst>
          </p:cNvPr>
          <p:cNvSpPr txBox="1"/>
          <p:nvPr/>
        </p:nvSpPr>
        <p:spPr>
          <a:xfrm>
            <a:off x="457200" y="6451600"/>
            <a:ext cx="8890000" cy="24109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900">
                <a:solidFill>
                  <a:srgbClr val="B0BFE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个人中心与订单模块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27DE81-D635-B0A6-669D-5ABD73964B9F}"/>
              </a:ext>
            </a:extLst>
          </p:cNvPr>
          <p:cNvSpPr txBox="1"/>
          <p:nvPr/>
        </p:nvSpPr>
        <p:spPr>
          <a:xfrm>
            <a:off x="11430000" y="6426200"/>
            <a:ext cx="355600" cy="25648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B0BFE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endParaRPr lang="zh-CN" altLang="en-US" sz="1000" b="1">
              <a:solidFill>
                <a:srgbClr val="B0BFE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0383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2DAB7E-7AFC-4FC9-3FF0-F534630E6A6A}"/>
              </a:ext>
            </a:extLst>
          </p:cNvPr>
          <p:cNvSpPr txBox="1"/>
          <p:nvPr/>
        </p:nvSpPr>
        <p:spPr>
          <a:xfrm>
            <a:off x="457200" y="457200"/>
            <a:ext cx="54610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2600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9. </a:t>
            </a:r>
            <a:r>
              <a:rPr lang="zh-CN" altLang="en-US" sz="2600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项目亮点与答辩可强调点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594CC1-A51A-5E88-0AEB-977D1F2B4554}"/>
              </a:ext>
            </a:extLst>
          </p:cNvPr>
          <p:cNvSpPr/>
          <p:nvPr/>
        </p:nvSpPr>
        <p:spPr>
          <a:xfrm>
            <a:off x="457200" y="1320800"/>
            <a:ext cx="3556000" cy="19304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4ED6418-D2FA-955D-4738-9CA37EF8DED6}"/>
              </a:ext>
            </a:extLst>
          </p:cNvPr>
          <p:cNvSpPr txBox="1"/>
          <p:nvPr/>
        </p:nvSpPr>
        <p:spPr>
          <a:xfrm>
            <a:off x="635000" y="1473200"/>
            <a:ext cx="32004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亮点 </a:t>
            </a:r>
            <a:r>
              <a:rPr lang="en-US" altLang="zh-CN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b="1">
              <a:solidFill>
                <a:srgbClr val="F8FA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BD5288-02F4-4AAF-D6FB-6E76B6B13B47}"/>
              </a:ext>
            </a:extLst>
          </p:cNvPr>
          <p:cNvSpPr txBox="1"/>
          <p:nvPr/>
        </p:nvSpPr>
        <p:spPr>
          <a:xfrm>
            <a:off x="635000" y="1905000"/>
            <a:ext cx="3200400" cy="44114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不是单页 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Demo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，而是前端、后端、数据库、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IPFS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、合约完整联动的系统。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72102E-0DE8-6C7E-A2C2-C4275EF5EC39}"/>
              </a:ext>
            </a:extLst>
          </p:cNvPr>
          <p:cNvSpPr/>
          <p:nvPr/>
        </p:nvSpPr>
        <p:spPr>
          <a:xfrm>
            <a:off x="4318000" y="1320800"/>
            <a:ext cx="3556000" cy="19304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F42888-BDC4-0ED3-F8A1-8D130DB781F6}"/>
              </a:ext>
            </a:extLst>
          </p:cNvPr>
          <p:cNvSpPr txBox="1"/>
          <p:nvPr/>
        </p:nvSpPr>
        <p:spPr>
          <a:xfrm>
            <a:off x="4495800" y="1473200"/>
            <a:ext cx="32004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亮点 </a:t>
            </a:r>
            <a:r>
              <a:rPr lang="en-US" altLang="zh-CN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b="1">
              <a:solidFill>
                <a:srgbClr val="F8FA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9A5E84A-C84E-433D-0C06-DAE54CE8D78A}"/>
              </a:ext>
            </a:extLst>
          </p:cNvPr>
          <p:cNvSpPr txBox="1"/>
          <p:nvPr/>
        </p:nvSpPr>
        <p:spPr>
          <a:xfrm>
            <a:off x="4495800" y="1905000"/>
            <a:ext cx="3200400" cy="44114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支持图片、音频、视频三类 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，且音视频支持封面图，不局限于图片藏品。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2421564-2142-1102-52C9-46A1FC9A041B}"/>
              </a:ext>
            </a:extLst>
          </p:cNvPr>
          <p:cNvSpPr/>
          <p:nvPr/>
        </p:nvSpPr>
        <p:spPr>
          <a:xfrm>
            <a:off x="8178800" y="1320800"/>
            <a:ext cx="3556000" cy="19304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A9EE0DF-1395-A207-3E8C-45C52008AA1C}"/>
              </a:ext>
            </a:extLst>
          </p:cNvPr>
          <p:cNvSpPr txBox="1"/>
          <p:nvPr/>
        </p:nvSpPr>
        <p:spPr>
          <a:xfrm>
            <a:off x="8356600" y="1473200"/>
            <a:ext cx="32004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亮点 </a:t>
            </a:r>
            <a:r>
              <a:rPr lang="en-US" altLang="zh-CN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b="1">
              <a:solidFill>
                <a:srgbClr val="F8FA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9784908-5EF5-AB36-54BC-3A815B82096A}"/>
              </a:ext>
            </a:extLst>
          </p:cNvPr>
          <p:cNvSpPr txBox="1"/>
          <p:nvPr/>
        </p:nvSpPr>
        <p:spPr>
          <a:xfrm>
            <a:off x="8356600" y="1905000"/>
            <a:ext cx="3200400" cy="44114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采用链上链下分层架构，兼顾可信交易与高频业务查询体验。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60CDF70-598D-B964-84B2-54B4CCF8C6BC}"/>
              </a:ext>
            </a:extLst>
          </p:cNvPr>
          <p:cNvSpPr/>
          <p:nvPr/>
        </p:nvSpPr>
        <p:spPr>
          <a:xfrm>
            <a:off x="457200" y="3632200"/>
            <a:ext cx="3556000" cy="19304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3E27F69-7568-D742-CA8F-CE41EA8F6F1E}"/>
              </a:ext>
            </a:extLst>
          </p:cNvPr>
          <p:cNvSpPr txBox="1"/>
          <p:nvPr/>
        </p:nvSpPr>
        <p:spPr>
          <a:xfrm>
            <a:off x="635000" y="3784600"/>
            <a:ext cx="32004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亮点 </a:t>
            </a:r>
            <a:r>
              <a:rPr lang="en-US" altLang="zh-CN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b="1">
              <a:solidFill>
                <a:srgbClr val="F8FA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8567085-087E-DC1A-0859-3BD7FFEED5B2}"/>
              </a:ext>
            </a:extLst>
          </p:cNvPr>
          <p:cNvSpPr txBox="1"/>
          <p:nvPr/>
        </p:nvSpPr>
        <p:spPr>
          <a:xfrm>
            <a:off x="635000" y="4216400"/>
            <a:ext cx="3200400" cy="44114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钱包登录采用 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nonce +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签名 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JWT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，会话逻辑更完整。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68B7B0A-1AC8-7FC5-833B-58636E06FDED}"/>
              </a:ext>
            </a:extLst>
          </p:cNvPr>
          <p:cNvSpPr/>
          <p:nvPr/>
        </p:nvSpPr>
        <p:spPr>
          <a:xfrm>
            <a:off x="4318000" y="3632200"/>
            <a:ext cx="3556000" cy="19304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7612E37-0961-E834-04C4-1E4426088BC0}"/>
              </a:ext>
            </a:extLst>
          </p:cNvPr>
          <p:cNvSpPr txBox="1"/>
          <p:nvPr/>
        </p:nvSpPr>
        <p:spPr>
          <a:xfrm>
            <a:off x="4495800" y="3784600"/>
            <a:ext cx="32004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亮点 </a:t>
            </a:r>
            <a:r>
              <a:rPr lang="en-US" altLang="zh-CN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b="1">
              <a:solidFill>
                <a:srgbClr val="F8FA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B80AF03-B34F-C18D-1832-603E7D1E7950}"/>
              </a:ext>
            </a:extLst>
          </p:cNvPr>
          <p:cNvSpPr txBox="1"/>
          <p:nvPr/>
        </p:nvSpPr>
        <p:spPr>
          <a:xfrm>
            <a:off x="4495800" y="4216400"/>
            <a:ext cx="3200400" cy="44114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创建与购买过程有阶段化进度提示，区块链交互过程更直观。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42D2920-BCB0-9F7B-0C0B-985FF43CD527}"/>
              </a:ext>
            </a:extLst>
          </p:cNvPr>
          <p:cNvSpPr/>
          <p:nvPr/>
        </p:nvSpPr>
        <p:spPr>
          <a:xfrm>
            <a:off x="8178800" y="3632200"/>
            <a:ext cx="3556000" cy="19304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B1D7A3A-138E-F113-1D0B-603E8EAFEA5B}"/>
              </a:ext>
            </a:extLst>
          </p:cNvPr>
          <p:cNvSpPr txBox="1"/>
          <p:nvPr/>
        </p:nvSpPr>
        <p:spPr>
          <a:xfrm>
            <a:off x="8356600" y="3784600"/>
            <a:ext cx="32004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亮点 </a:t>
            </a:r>
            <a:r>
              <a:rPr lang="en-US" altLang="zh-CN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endParaRPr lang="zh-CN" altLang="en-US" b="1">
              <a:solidFill>
                <a:srgbClr val="F8FA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FB306FD-4401-1846-9783-3D38066AB641}"/>
              </a:ext>
            </a:extLst>
          </p:cNvPr>
          <p:cNvSpPr txBox="1"/>
          <p:nvPr/>
        </p:nvSpPr>
        <p:spPr>
          <a:xfrm>
            <a:off x="8356600" y="4216400"/>
            <a:ext cx="3200400" cy="44114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已经具备从创建、展示、交易到资产管理的完整业务闭环。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DDDDC50-4591-AB5A-D28C-41D0EFD4DF83}"/>
              </a:ext>
            </a:extLst>
          </p:cNvPr>
          <p:cNvSpPr txBox="1"/>
          <p:nvPr/>
        </p:nvSpPr>
        <p:spPr>
          <a:xfrm>
            <a:off x="457200" y="6451600"/>
            <a:ext cx="8890000" cy="24109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9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亮点页 </a:t>
            </a:r>
            <a:r>
              <a:rPr lang="en-US" altLang="zh-CN" sz="9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</a:t>
            </a:r>
            <a:r>
              <a:rPr lang="zh-CN" altLang="en-US" sz="9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适合答辩重点展开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9577871-0B9F-60AA-C887-ABDED8487576}"/>
              </a:ext>
            </a:extLst>
          </p:cNvPr>
          <p:cNvSpPr txBox="1"/>
          <p:nvPr/>
        </p:nvSpPr>
        <p:spPr>
          <a:xfrm>
            <a:off x="11430000" y="6426200"/>
            <a:ext cx="355600" cy="25648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1000" b="1">
              <a:solidFill>
                <a:srgbClr val="AABAD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0410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262E3FC-8004-AAA8-B371-342C8DD27886}"/>
              </a:ext>
            </a:extLst>
          </p:cNvPr>
          <p:cNvSpPr txBox="1"/>
          <p:nvPr/>
        </p:nvSpPr>
        <p:spPr>
          <a:xfrm>
            <a:off x="457200" y="457200"/>
            <a:ext cx="53340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2600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10. </a:t>
            </a:r>
            <a:r>
              <a:rPr lang="zh-CN" altLang="en-US" sz="2600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当前存在的问题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146B33-7781-E99B-8079-C68C3A4813DE}"/>
              </a:ext>
            </a:extLst>
          </p:cNvPr>
          <p:cNvSpPr/>
          <p:nvPr/>
        </p:nvSpPr>
        <p:spPr>
          <a:xfrm>
            <a:off x="457200" y="1320800"/>
            <a:ext cx="5334000" cy="18542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EE9591A-B9DC-118A-E744-38B9CFDA2511}"/>
              </a:ext>
            </a:extLst>
          </p:cNvPr>
          <p:cNvSpPr txBox="1"/>
          <p:nvPr/>
        </p:nvSpPr>
        <p:spPr>
          <a:xfrm>
            <a:off x="635000" y="1473200"/>
            <a:ext cx="49784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工程问题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F8D5CF-9D89-C2F0-AFC3-E347CA01D255}"/>
              </a:ext>
            </a:extLst>
          </p:cNvPr>
          <p:cNvSpPr txBox="1"/>
          <p:nvPr/>
        </p:nvSpPr>
        <p:spPr>
          <a:xfrm>
            <a:off x="635000" y="1905000"/>
            <a:ext cx="4978400" cy="271869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前端生产构建稳定性仍需继续排查和收口，当前更偏开发态可运行。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53DDE0-BA53-0107-32DE-9E80C55E7951}"/>
              </a:ext>
            </a:extLst>
          </p:cNvPr>
          <p:cNvSpPr/>
          <p:nvPr/>
        </p:nvSpPr>
        <p:spPr>
          <a:xfrm>
            <a:off x="6248400" y="1320800"/>
            <a:ext cx="5486400" cy="18542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85B518C-AB76-09AE-4E09-B6C35446EA60}"/>
              </a:ext>
            </a:extLst>
          </p:cNvPr>
          <p:cNvSpPr txBox="1"/>
          <p:nvPr/>
        </p:nvSpPr>
        <p:spPr>
          <a:xfrm>
            <a:off x="6426200" y="1473200"/>
            <a:ext cx="51308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一致性问题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9AF6817-DE96-DFD5-6A99-F8B694E9E647}"/>
              </a:ext>
            </a:extLst>
          </p:cNvPr>
          <p:cNvSpPr txBox="1"/>
          <p:nvPr/>
        </p:nvSpPr>
        <p:spPr>
          <a:xfrm>
            <a:off x="6426200" y="1905000"/>
            <a:ext cx="5130800" cy="44114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链上交易结果写回数据库，目前仍主要依赖前端回传，后续要补交易回执校验或事件监听。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08E73D5-7E25-26C7-6B7A-B95BC123ED69}"/>
              </a:ext>
            </a:extLst>
          </p:cNvPr>
          <p:cNvSpPr/>
          <p:nvPr/>
        </p:nvSpPr>
        <p:spPr>
          <a:xfrm>
            <a:off x="457200" y="3556000"/>
            <a:ext cx="5334000" cy="18542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C5E9A1F-A909-CBCF-15CD-00F4B6C1724A}"/>
              </a:ext>
            </a:extLst>
          </p:cNvPr>
          <p:cNvSpPr txBox="1"/>
          <p:nvPr/>
        </p:nvSpPr>
        <p:spPr>
          <a:xfrm>
            <a:off x="635000" y="3708400"/>
            <a:ext cx="49784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测试问题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933A72-C690-4519-C2C4-3FA087E159D3}"/>
              </a:ext>
            </a:extLst>
          </p:cNvPr>
          <p:cNvSpPr txBox="1"/>
          <p:nvPr/>
        </p:nvSpPr>
        <p:spPr>
          <a:xfrm>
            <a:off x="635000" y="4140200"/>
            <a:ext cx="4978400" cy="271869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后端 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go test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虽能通过，但基本没有实质测试用例，自动化测试仍不足。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68E647-DB54-3645-59D6-5C68869D8A15}"/>
              </a:ext>
            </a:extLst>
          </p:cNvPr>
          <p:cNvSpPr/>
          <p:nvPr/>
        </p:nvSpPr>
        <p:spPr>
          <a:xfrm>
            <a:off x="6248400" y="3556000"/>
            <a:ext cx="5486400" cy="18542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7608320-B034-8289-CA5A-CC3C8E591943}"/>
              </a:ext>
            </a:extLst>
          </p:cNvPr>
          <p:cNvSpPr txBox="1"/>
          <p:nvPr/>
        </p:nvSpPr>
        <p:spPr>
          <a:xfrm>
            <a:off x="6426200" y="3708400"/>
            <a:ext cx="51308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展示问题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13990BE-5911-517D-1C09-90092DC85C3A}"/>
              </a:ext>
            </a:extLst>
          </p:cNvPr>
          <p:cNvSpPr txBox="1"/>
          <p:nvPr/>
        </p:nvSpPr>
        <p:spPr>
          <a:xfrm>
            <a:off x="6426200" y="4140200"/>
            <a:ext cx="5130800" cy="271869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部分历史文案与编码细节还需要继续打磨，答辩演示层面可进一步优化。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A54DE4B-799D-8B0B-45C3-DFB75DBEBC8D}"/>
              </a:ext>
            </a:extLst>
          </p:cNvPr>
          <p:cNvSpPr txBox="1"/>
          <p:nvPr/>
        </p:nvSpPr>
        <p:spPr>
          <a:xfrm>
            <a:off x="457200" y="6451600"/>
            <a:ext cx="8890000" cy="24109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9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中期答辩不回避问题，重点是知道问题在哪里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A8C9A10-0F12-6484-D621-E7D443F6BFC0}"/>
              </a:ext>
            </a:extLst>
          </p:cNvPr>
          <p:cNvSpPr txBox="1"/>
          <p:nvPr/>
        </p:nvSpPr>
        <p:spPr>
          <a:xfrm>
            <a:off x="11430000" y="6426200"/>
            <a:ext cx="355600" cy="25648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endParaRPr lang="zh-CN" altLang="en-US" sz="1000" b="1">
              <a:solidFill>
                <a:srgbClr val="AABAD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7664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311D342-4835-30DE-5142-F002C86ED0FD}"/>
              </a:ext>
            </a:extLst>
          </p:cNvPr>
          <p:cNvSpPr txBox="1"/>
          <p:nvPr/>
        </p:nvSpPr>
        <p:spPr>
          <a:xfrm>
            <a:off x="457200" y="457200"/>
            <a:ext cx="53340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2600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11. </a:t>
            </a:r>
            <a:r>
              <a:rPr lang="zh-CN" altLang="en-US" sz="2600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下一阶段工作计划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4E38564-CCF7-9999-9380-CE5B84FC2700}"/>
              </a:ext>
            </a:extLst>
          </p:cNvPr>
          <p:cNvSpPr/>
          <p:nvPr/>
        </p:nvSpPr>
        <p:spPr>
          <a:xfrm>
            <a:off x="457200" y="1371600"/>
            <a:ext cx="2590800" cy="32766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43B8273-4501-D1E1-34D4-5D12896B0055}"/>
              </a:ext>
            </a:extLst>
          </p:cNvPr>
          <p:cNvSpPr txBox="1"/>
          <p:nvPr/>
        </p:nvSpPr>
        <p:spPr>
          <a:xfrm>
            <a:off x="635000" y="1524000"/>
            <a:ext cx="22352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计划 </a:t>
            </a:r>
            <a:r>
              <a:rPr lang="en-US" altLang="zh-CN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b="1">
              <a:solidFill>
                <a:srgbClr val="F8FA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326E25-509D-D294-533A-F47029D4DEC9}"/>
              </a:ext>
            </a:extLst>
          </p:cNvPr>
          <p:cNvSpPr txBox="1"/>
          <p:nvPr/>
        </p:nvSpPr>
        <p:spPr>
          <a:xfrm>
            <a:off x="635000" y="1955800"/>
            <a:ext cx="2235200" cy="779701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继续完善工程化能力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排查前端 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build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优化部署与环境配置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提高交付稳定性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65EE63-7832-E797-7B21-D3FD4C951D0C}"/>
              </a:ext>
            </a:extLst>
          </p:cNvPr>
          <p:cNvSpPr/>
          <p:nvPr/>
        </p:nvSpPr>
        <p:spPr>
          <a:xfrm>
            <a:off x="3276600" y="1371600"/>
            <a:ext cx="2590800" cy="32766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AC8E6D-B586-8738-5A4F-5ED1B962FB31}"/>
              </a:ext>
            </a:extLst>
          </p:cNvPr>
          <p:cNvSpPr txBox="1"/>
          <p:nvPr/>
        </p:nvSpPr>
        <p:spPr>
          <a:xfrm>
            <a:off x="3454400" y="1524000"/>
            <a:ext cx="22352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计划 </a:t>
            </a:r>
            <a:r>
              <a:rPr lang="en-US" altLang="zh-CN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b="1">
              <a:solidFill>
                <a:srgbClr val="F8FA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DE36E6D-D25B-22A9-7E5E-3BB68BA1F2D5}"/>
              </a:ext>
            </a:extLst>
          </p:cNvPr>
          <p:cNvSpPr txBox="1"/>
          <p:nvPr/>
        </p:nvSpPr>
        <p:spPr>
          <a:xfrm>
            <a:off x="3454400" y="1955800"/>
            <a:ext cx="2235200" cy="779701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增强链上链下同步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校验交易回执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监听关键事件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降低对前端回传的依赖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5F02C78-E264-CB8A-948C-57B54C123BFF}"/>
              </a:ext>
            </a:extLst>
          </p:cNvPr>
          <p:cNvSpPr/>
          <p:nvPr/>
        </p:nvSpPr>
        <p:spPr>
          <a:xfrm>
            <a:off x="6096000" y="1371600"/>
            <a:ext cx="2590800" cy="32766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647076E-5A74-FF6A-B997-A238572119EA}"/>
              </a:ext>
            </a:extLst>
          </p:cNvPr>
          <p:cNvSpPr txBox="1"/>
          <p:nvPr/>
        </p:nvSpPr>
        <p:spPr>
          <a:xfrm>
            <a:off x="6273800" y="1524000"/>
            <a:ext cx="22352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计划 </a:t>
            </a:r>
            <a:r>
              <a:rPr lang="en-US" altLang="zh-CN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b="1">
              <a:solidFill>
                <a:srgbClr val="F8FA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8CE9EE7-0A70-F105-9092-D44EFA0DEBB3}"/>
              </a:ext>
            </a:extLst>
          </p:cNvPr>
          <p:cNvSpPr txBox="1"/>
          <p:nvPr/>
        </p:nvSpPr>
        <p:spPr>
          <a:xfrm>
            <a:off x="6273800" y="1955800"/>
            <a:ext cx="2235200" cy="779701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继续完善数据与安全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补更多输入校验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强化上传与限流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优化金额与索引建模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078910-F588-7BEC-B25B-757E7E548A39}"/>
              </a:ext>
            </a:extLst>
          </p:cNvPr>
          <p:cNvSpPr/>
          <p:nvPr/>
        </p:nvSpPr>
        <p:spPr>
          <a:xfrm>
            <a:off x="8915400" y="1371600"/>
            <a:ext cx="2819400" cy="32766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66C843-3A2B-6B7B-AAAD-2E950E0A2B64}"/>
              </a:ext>
            </a:extLst>
          </p:cNvPr>
          <p:cNvSpPr txBox="1"/>
          <p:nvPr/>
        </p:nvSpPr>
        <p:spPr>
          <a:xfrm>
            <a:off x="9093200" y="1524000"/>
            <a:ext cx="24638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计划 </a:t>
            </a:r>
            <a:r>
              <a:rPr lang="en-US" altLang="zh-CN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b="1">
              <a:solidFill>
                <a:srgbClr val="F8FA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551AD0D-D0EB-520E-A072-6F12AA9A16B6}"/>
              </a:ext>
            </a:extLst>
          </p:cNvPr>
          <p:cNvSpPr txBox="1"/>
          <p:nvPr/>
        </p:nvSpPr>
        <p:spPr>
          <a:xfrm>
            <a:off x="9093200" y="1955800"/>
            <a:ext cx="2463800" cy="779701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补全测试与展示质量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登录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创建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购买路径测试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合约测试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打磨页面展示与汇报材料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63758C5-D77A-854A-881E-953BA04F92D6}"/>
              </a:ext>
            </a:extLst>
          </p:cNvPr>
          <p:cNvSpPr txBox="1"/>
          <p:nvPr/>
        </p:nvSpPr>
        <p:spPr>
          <a:xfrm>
            <a:off x="457200" y="6451600"/>
            <a:ext cx="8890000" cy="24109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9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下一阶段：从可用走向稳定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4F16458-2C77-DBD1-F4EB-E211A02181F8}"/>
              </a:ext>
            </a:extLst>
          </p:cNvPr>
          <p:cNvSpPr txBox="1"/>
          <p:nvPr/>
        </p:nvSpPr>
        <p:spPr>
          <a:xfrm>
            <a:off x="11430000" y="6426200"/>
            <a:ext cx="355600" cy="25648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endParaRPr lang="zh-CN" altLang="en-US" sz="1000" b="1">
              <a:solidFill>
                <a:srgbClr val="AABAD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390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D33FF51-10F9-7B4F-70B0-5AF848CF637F}"/>
              </a:ext>
            </a:extLst>
          </p:cNvPr>
          <p:cNvSpPr txBox="1"/>
          <p:nvPr/>
        </p:nvSpPr>
        <p:spPr>
          <a:xfrm>
            <a:off x="457200" y="457200"/>
            <a:ext cx="5461000" cy="50270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sz="2600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12. </a:t>
            </a:r>
            <a:r>
              <a:rPr lang="zh-CN" altLang="en-US" sz="2600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中期阶段总结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2E4E53-96FE-3F4C-B5D3-F63E6003C2F8}"/>
              </a:ext>
            </a:extLst>
          </p:cNvPr>
          <p:cNvSpPr/>
          <p:nvPr/>
        </p:nvSpPr>
        <p:spPr>
          <a:xfrm>
            <a:off x="457200" y="1244600"/>
            <a:ext cx="3556000" cy="22098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9B0034-75FD-4752-B810-D5A107A4E2ED}"/>
              </a:ext>
            </a:extLst>
          </p:cNvPr>
          <p:cNvSpPr txBox="1"/>
          <p:nvPr/>
        </p:nvSpPr>
        <p:spPr>
          <a:xfrm>
            <a:off x="635000" y="1397000"/>
            <a:ext cx="32004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完成度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7C1D74-C2CE-FB94-DF33-EDF6B2043F0C}"/>
              </a:ext>
            </a:extLst>
          </p:cNvPr>
          <p:cNvSpPr txBox="1"/>
          <p:nvPr/>
        </p:nvSpPr>
        <p:spPr>
          <a:xfrm>
            <a:off x="635000" y="1828800"/>
            <a:ext cx="3200400" cy="44114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核心业务闭环完成度约 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70%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已完成系统总体架构设计与主要模块开发。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214C95-8201-436D-D422-8E65A5F23AE9}"/>
              </a:ext>
            </a:extLst>
          </p:cNvPr>
          <p:cNvSpPr/>
          <p:nvPr/>
        </p:nvSpPr>
        <p:spPr>
          <a:xfrm>
            <a:off x="4318000" y="1244600"/>
            <a:ext cx="3556000" cy="22098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9186A8-24CD-6770-3990-EB5727AC6D2A}"/>
              </a:ext>
            </a:extLst>
          </p:cNvPr>
          <p:cNvSpPr txBox="1"/>
          <p:nvPr/>
        </p:nvSpPr>
        <p:spPr>
          <a:xfrm>
            <a:off x="4495800" y="1397000"/>
            <a:ext cx="32004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已跑通能力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D555A25-09A7-69D6-CA67-B20BBDBD67E9}"/>
              </a:ext>
            </a:extLst>
          </p:cNvPr>
          <p:cNvSpPr txBox="1"/>
          <p:nvPr/>
        </p:nvSpPr>
        <p:spPr>
          <a:xfrm>
            <a:off x="4495800" y="1828800"/>
            <a:ext cx="3200400" cy="144655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钱包登录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IPFS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存储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创建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链上铸造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市场展示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链上购买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订单同步</a:t>
            </a:r>
          </a:p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个人中心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BB291A-6DD9-EE18-1566-893F7283AF49}"/>
              </a:ext>
            </a:extLst>
          </p:cNvPr>
          <p:cNvSpPr/>
          <p:nvPr/>
        </p:nvSpPr>
        <p:spPr>
          <a:xfrm>
            <a:off x="8178800" y="1244600"/>
            <a:ext cx="3556000" cy="22098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D9FB1EE-5A65-6AF5-B0CB-213D47399C85}"/>
              </a:ext>
            </a:extLst>
          </p:cNvPr>
          <p:cNvSpPr txBox="1"/>
          <p:nvPr/>
        </p:nvSpPr>
        <p:spPr>
          <a:xfrm>
            <a:off x="8356600" y="1397000"/>
            <a:ext cx="32004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当前定位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0F843BC-D4A6-B83D-778C-6BB02D34A468}"/>
              </a:ext>
            </a:extLst>
          </p:cNvPr>
          <p:cNvSpPr txBox="1"/>
          <p:nvPr/>
        </p:nvSpPr>
        <p:spPr>
          <a:xfrm>
            <a:off x="8356600" y="1828800"/>
            <a:ext cx="3200400" cy="44114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项目已经不是概念 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Demo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，而是具备真实业务路径的 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市场系统原型。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69BD597-7297-31C1-5D84-163AB5F8299C}"/>
              </a:ext>
            </a:extLst>
          </p:cNvPr>
          <p:cNvSpPr/>
          <p:nvPr/>
        </p:nvSpPr>
        <p:spPr>
          <a:xfrm>
            <a:off x="457200" y="3810000"/>
            <a:ext cx="11277600" cy="1701800"/>
          </a:xfrm>
          <a:prstGeom prst="rect">
            <a:avLst/>
          </a:prstGeom>
          <a:solidFill>
            <a:srgbClr val="0F18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FEB5340-11A6-B311-C4E1-BD5388CFE2E1}"/>
              </a:ext>
            </a:extLst>
          </p:cNvPr>
          <p:cNvSpPr txBox="1"/>
          <p:nvPr/>
        </p:nvSpPr>
        <p:spPr>
          <a:xfrm>
            <a:off x="635000" y="3962400"/>
            <a:ext cx="109220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总结陈述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ABA324C-6FBA-3A8B-0954-2880236F9357}"/>
              </a:ext>
            </a:extLst>
          </p:cNvPr>
          <p:cNvSpPr txBox="1"/>
          <p:nvPr/>
        </p:nvSpPr>
        <p:spPr>
          <a:xfrm>
            <a:off x="635000" y="4394200"/>
            <a:ext cx="10922000" cy="271869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截至中期，我已经完成了 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数字藏品市场系统从用户登录到 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交易的基本闭环。接下来会继续围绕工程稳定性、链上链下一致性、测试完备度与展示质量做深入优化。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FC68C72-6A33-1003-867C-3B2FF1DA47DC}"/>
              </a:ext>
            </a:extLst>
          </p:cNvPr>
          <p:cNvSpPr txBox="1"/>
          <p:nvPr/>
        </p:nvSpPr>
        <p:spPr>
          <a:xfrm>
            <a:off x="457200" y="6451600"/>
            <a:ext cx="8890000" cy="24109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9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中期总结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8021AE3-C722-660C-A4A2-DD6DC903C897}"/>
              </a:ext>
            </a:extLst>
          </p:cNvPr>
          <p:cNvSpPr txBox="1"/>
          <p:nvPr/>
        </p:nvSpPr>
        <p:spPr>
          <a:xfrm>
            <a:off x="11430000" y="6426200"/>
            <a:ext cx="355600" cy="25648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endParaRPr lang="zh-CN" altLang="en-US" sz="1000" b="1">
              <a:solidFill>
                <a:srgbClr val="AABAD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1302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96AC4CB-3C20-C09C-64F4-2986755BA2A7}"/>
              </a:ext>
            </a:extLst>
          </p:cNvPr>
          <p:cNvSpPr txBox="1"/>
          <p:nvPr/>
        </p:nvSpPr>
        <p:spPr>
          <a:xfrm>
            <a:off x="457200" y="1244600"/>
            <a:ext cx="11277600" cy="62581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zh-CN" altLang="en-US" sz="3400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谢谢各位老师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A4CE82-6C0E-67B0-C46F-E23AF86F04FA}"/>
              </a:ext>
            </a:extLst>
          </p:cNvPr>
          <p:cNvSpPr txBox="1"/>
          <p:nvPr/>
        </p:nvSpPr>
        <p:spPr>
          <a:xfrm>
            <a:off x="457200" y="2159000"/>
            <a:ext cx="11277600" cy="441146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zh-CN" altLang="en-US" sz="2200" b="1">
                <a:solidFill>
                  <a:srgbClr val="2DC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恳请批评指正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279250-0619-B099-2EE6-541B0F2413DA}"/>
              </a:ext>
            </a:extLst>
          </p:cNvPr>
          <p:cNvSpPr/>
          <p:nvPr/>
        </p:nvSpPr>
        <p:spPr>
          <a:xfrm>
            <a:off x="2946400" y="3276600"/>
            <a:ext cx="6299200" cy="1498600"/>
          </a:xfrm>
          <a:prstGeom prst="rect">
            <a:avLst/>
          </a:prstGeom>
          <a:solidFill>
            <a:srgbClr val="131F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1746E3-258C-5361-43CA-0F4A289586B4}"/>
              </a:ext>
            </a:extLst>
          </p:cNvPr>
          <p:cNvSpPr txBox="1"/>
          <p:nvPr/>
        </p:nvSpPr>
        <p:spPr>
          <a:xfrm>
            <a:off x="3124200" y="3429000"/>
            <a:ext cx="5943600" cy="381000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en-US" altLang="zh-CN" b="1">
                <a:solidFill>
                  <a:srgbClr val="F8FA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 &amp; A</a:t>
            </a:r>
            <a:endParaRPr lang="zh-CN" altLang="en-US" b="1">
              <a:solidFill>
                <a:srgbClr val="F8FA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32BD09A-D119-4156-C011-86C668259164}"/>
              </a:ext>
            </a:extLst>
          </p:cNvPr>
          <p:cNvSpPr txBox="1"/>
          <p:nvPr/>
        </p:nvSpPr>
        <p:spPr>
          <a:xfrm>
            <a:off x="3124200" y="3860800"/>
            <a:ext cx="5943600" cy="779701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可重点准备的追问方向：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为什么采用链上 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链下架构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为什么支持多媒体 </a:t>
            </a:r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NFT</a:t>
            </a:r>
          </a:p>
          <a:p>
            <a:r>
              <a:rPr lang="en-US" altLang="zh-CN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11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下一阶段如何提高一致性与稳定性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E4692F-B5C6-2BF0-4208-8EDD27AC59EC}"/>
              </a:ext>
            </a:extLst>
          </p:cNvPr>
          <p:cNvSpPr txBox="1"/>
          <p:nvPr/>
        </p:nvSpPr>
        <p:spPr>
          <a:xfrm>
            <a:off x="457200" y="6273800"/>
            <a:ext cx="11277600" cy="241092"/>
          </a:xfrm>
          <a:prstGeom prst="rect">
            <a:avLst/>
          </a:prstGeom>
          <a:noFill/>
        </p:spPr>
        <p:txBody>
          <a:bodyPr vert="horz" lIns="76200" tIns="50800" rIns="76200" bIns="50800" rtlCol="0">
            <a:spAutoFit/>
          </a:bodyPr>
          <a:lstStyle/>
          <a:p>
            <a:pPr algn="ctr"/>
            <a:r>
              <a:rPr lang="zh-CN" altLang="en-US" sz="9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附：本 </a:t>
            </a:r>
            <a:r>
              <a:rPr lang="en-US" altLang="zh-CN" sz="9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PPT </a:t>
            </a:r>
            <a:r>
              <a:rPr lang="zh-CN" altLang="en-US" sz="9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根据 </a:t>
            </a:r>
            <a:r>
              <a:rPr lang="en-US" altLang="zh-CN" sz="9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MIDTERM_DEFENSE_SCRIPT.md </a:t>
            </a:r>
            <a:r>
              <a:rPr lang="zh-CN" altLang="en-US" sz="900">
                <a:solidFill>
                  <a:srgbClr val="AABAD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并结合当前代码状态整理，认证方式已更新为钱包签名登录。</a:t>
            </a:r>
          </a:p>
        </p:txBody>
      </p:sp>
    </p:spTree>
    <p:extLst>
      <p:ext uri="{BB962C8B-B14F-4D97-AF65-F5344CB8AC3E}">
        <p14:creationId xmlns:p14="http://schemas.microsoft.com/office/powerpoint/2010/main" val="4228597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1604</Words>
  <Application>Microsoft Office PowerPoint</Application>
  <PresentationFormat>自定义</PresentationFormat>
  <Paragraphs>222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逸腾 江</dc:creator>
  <cp:lastModifiedBy>逸腾 江</cp:lastModifiedBy>
  <cp:revision>1</cp:revision>
  <dcterms:created xsi:type="dcterms:W3CDTF">2026-03-12T06:18:38Z</dcterms:created>
  <dcterms:modified xsi:type="dcterms:W3CDTF">2026-03-12T06:18:38Z</dcterms:modified>
</cp:coreProperties>
</file>