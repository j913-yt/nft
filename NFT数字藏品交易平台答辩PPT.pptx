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E991E1-B3E5-4535-A93F-E056D9171088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A5555-591F-41B0-82D4-7FB90120C2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921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开场只用一句话概括：本系统围绕数字藏品的创建、确权、展示、交易和资产管理，完成一个链上链下协同的交易闭环。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A5555-591F-41B0-82D4-7FB90120C21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302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这一页不要展开行业背景，讲清楚三个问题：归属难确认、交易难追踪、创作者收益难延续；然后引出系统目标。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A5555-591F-41B0-82D4-7FB90120C21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391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重点说分工：链上处理可信确权和交易，链下处理展示、查询和管理。后端不替用户发起链上交易，链上操作必须由用户钱包确认。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A5555-591F-41B0-82D4-7FB90120C21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843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这页按流程图从左到右讲，形成答辩主线：登录、上传、</a:t>
            </a:r>
            <a:r>
              <a:rPr lang="en-US" altLang="zh-CN"/>
              <a:t>IPFS</a:t>
            </a:r>
            <a:r>
              <a:rPr lang="zh-CN" altLang="en-US"/>
              <a:t>、合约、市场、订单。后面几页就是逐个展开这些功能。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A5555-591F-41B0-82D4-7FB90120C21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956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强调这个系统没有使用传统账号密码登录，而是钱包签名登录。签名不是链上交易，不消耗</a:t>
            </a:r>
            <a:r>
              <a:rPr lang="en-US" altLang="zh-CN"/>
              <a:t>gas</a:t>
            </a:r>
            <a:r>
              <a:rPr lang="zh-CN" altLang="en-US"/>
              <a:t>，只证明用户控制当前钱包。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A5555-591F-41B0-82D4-7FB90120C21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082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这一页是核心功能之一。可以按创建表单、</a:t>
            </a:r>
            <a:r>
              <a:rPr lang="en-US" altLang="zh-CN"/>
              <a:t>IPFS</a:t>
            </a:r>
            <a:r>
              <a:rPr lang="zh-CN" altLang="en-US"/>
              <a:t>上传、钱包确认铸造、后端保存记录四步讲。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A5555-591F-41B0-82D4-7FB90120C21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459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讲这个功能时要强调它不是普通商品详情页，</a:t>
            </a:r>
            <a:r>
              <a:rPr lang="en-US" altLang="zh-CN"/>
              <a:t>NFT</a:t>
            </a:r>
            <a:r>
              <a:rPr lang="zh-CN" altLang="en-US"/>
              <a:t>详情页还承担链上信息追溯的作用。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A5555-591F-41B0-82D4-7FB90120C21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090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这页重点是链上交易和链下订单的关系。先有链上成功结果，再同步后端订单，避免假交易记录。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A5555-591F-41B0-82D4-7FB90120C21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708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个人中心是把前面功能汇总给用户看的地方。测试结论只讲核心：主流程可以跑通，链上链下同步正常。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A5555-591F-41B0-82D4-7FB90120C21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9382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最后用四句话收束，不需要展开不足。现场老师问到不足时，再回答界面体验、筛选推荐和合约安全性还可继续优化。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A5555-591F-41B0-82D4-7FB90120C21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477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CA003E-2006-91F5-6FA5-3F55F433E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651687-518F-9625-8FD6-FF35F5D87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BBF9B1-13F4-C57C-8E15-7E1F8EC3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FEE5-3F2A-42F7-B411-028A07C10E16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BA0262-7AC1-EC69-7C74-BF4CF275F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C4CAFD-FD55-875C-BC90-F0B3A872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6841-7176-4748-8159-4A23465EC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22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23B396-8961-D1C2-A59C-AE04DE390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58DBC4-0315-70C9-98FA-F7520767E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5BF1E0-3AF9-EBE7-9CF7-DE2738EE9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FEE5-3F2A-42F7-B411-028A07C10E16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070CAE-475C-D9BF-D25E-D1CF27A80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8A66A2-B65D-A049-96F9-F79887798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6841-7176-4748-8159-4A23465EC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468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13BE9-5FBF-646D-649B-97CE4A18B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6B6F96-0AC5-C234-CF42-38551BDA4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84B3B6-009B-3E05-2BE2-1CDC230C0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FEE5-3F2A-42F7-B411-028A07C10E16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1650BC-33B3-5510-5F9E-0AA9A9339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41D137-2DA5-7664-6743-B2A6D090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6841-7176-4748-8159-4A23465EC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949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7960B0-85DA-6622-8E9B-3C47AC854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0D4CAA-1374-6037-0A78-32583E39E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D4C143-85C0-C8CB-BA4F-A7D7C175F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B6DD7B-E052-E761-647C-75B3A457B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FEE5-3F2A-42F7-B411-028A07C10E16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823FB3-28B9-10DD-5A34-83715FD7E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AD2C99-A372-2158-F801-CF4B7F0F3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6841-7176-4748-8159-4A23465EC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2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70F41C-FE8E-D319-A78E-1A5C70511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4458F7-DB2D-FEE2-C2DA-9BDDA2F25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874AAA-09D5-D1E8-8598-AFFDD9BFD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6E560BE-03BF-A630-71C9-D7FDC9E2C0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E13AE7-3E26-6FBA-6370-66DF0EEB3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C4E19CC-7BB6-F93E-F2E9-08D543BC4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FEE5-3F2A-42F7-B411-028A07C10E16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FAB034-2225-1A00-E944-56BD34427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DE4E55-0DD6-6B5E-A17B-AD17D477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6841-7176-4748-8159-4A23465EC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33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3D3DB-16C6-2A44-1BE1-3C0642DF7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C92935-EDD5-802C-3EEF-EEED6E823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FEE5-3F2A-42F7-B411-028A07C10E16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DD923A-B288-00DB-4A11-00FF226C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2DD289-4EDE-E70B-72DF-6FDDD6C6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6841-7176-4748-8159-4A23465EC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456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7F2652B-E159-A5C5-91CF-CCF505FC8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FEE5-3F2A-42F7-B411-028A07C10E16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6099D3-4260-2CAF-52EC-CB9FDE2C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ED95F6-EAFF-8648-6843-8F4BA1174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6841-7176-4748-8159-4A23465EC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849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77AE1-5D6E-695A-931A-F2C99C466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2794A4-1042-E872-3830-623791193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DB21E1-952A-BAEB-C5E4-3C4033E55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404A10-3579-B1E9-163A-B14F904C0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FEE5-3F2A-42F7-B411-028A07C10E16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6335AA-69A2-3C8A-99DB-B0906FFF8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D91AE1-3C58-4C07-75E0-6C30D0AB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6841-7176-4748-8159-4A23465EC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430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026BD-403D-A80D-6028-10555DFE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249A047-E80B-4359-7B18-4A11DA7674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BD1C67-9272-B205-67BD-00DFE1475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0B08F1-3564-E6E7-951A-B398D379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FEE5-3F2A-42F7-B411-028A07C10E16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F9F07B-1747-A3CB-F6A3-90D6AE272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BDCEFF-5D6D-6664-70AB-E4A88D86C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6841-7176-4748-8159-4A23465EC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477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DEB69-54A4-5AC0-45BD-AA8E57643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0462C2-4938-F170-FE25-FAC2E28B3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DA22E2-607D-AEFA-F245-7941745E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FEE5-3F2A-42F7-B411-028A07C10E16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B5970E-9516-40BC-144D-A278D1FE7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A5D26C-23A9-DF98-DFDB-EAED1D207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6841-7176-4748-8159-4A23465EC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963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CFBAD78-5E75-9255-523C-A4D17B9C3D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8965CB-958F-0557-38C2-B79B69C18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86306E-1D75-5EF3-2198-E3355C251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FEE5-3F2A-42F7-B411-028A07C10E16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6765BC-BC08-85CD-35A2-AB1EC732E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9DE1B9-51CD-D481-4B89-516BFDF97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6841-7176-4748-8159-4A23465EC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76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F7FD31-8342-41A0-91F8-3CF35441D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828607-6CEC-4AAC-620C-D5C6DCFF0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49662-4C84-6B11-BDDA-613B2F767C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DFEE5-3F2A-42F7-B411-028A07C10E16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33361E-49D6-3F0B-821A-F657C89A07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1C59D6-C2B6-A0B2-A8DF-F57B627E95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F6841-7176-4748-8159-4A23465EC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052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0052229-C4B8-D827-9687-7751B0E325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2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9BC71E-9B67-0491-652A-0D6702E3E937}"/>
              </a:ext>
            </a:extLst>
          </p:cNvPr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solidFill>
            <a:srgbClr val="00A8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74D957-777B-543B-22FD-A70BA7988C0B}"/>
              </a:ext>
            </a:extLst>
          </p:cNvPr>
          <p:cNvSpPr txBox="1"/>
          <p:nvPr/>
        </p:nvSpPr>
        <p:spPr>
          <a:xfrm>
            <a:off x="914400" y="15240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F4B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毕业论文答辩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E7DEE0-37AA-C368-D481-470890C3AF86}"/>
              </a:ext>
            </a:extLst>
          </p:cNvPr>
          <p:cNvSpPr txBox="1"/>
          <p:nvPr/>
        </p:nvSpPr>
        <p:spPr>
          <a:xfrm>
            <a:off x="914400" y="2082800"/>
            <a:ext cx="6477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数字藏品交易平台的
设计与实现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20E6A81-4829-8A3F-CD7D-87A2EBE98D1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1422400"/>
            <a:ext cx="3454400" cy="3454400"/>
          </a:xfrm>
          <a:prstGeom prst="rect">
            <a:avLst/>
          </a:prstGeom>
          <a:ln w="15240">
            <a:solidFill>
              <a:schemeClr val="tx1"/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814495F-6F97-FDF1-2467-BC56C72991E2}"/>
              </a:ext>
            </a:extLst>
          </p:cNvPr>
          <p:cNvSpPr txBox="1"/>
          <p:nvPr/>
        </p:nvSpPr>
        <p:spPr>
          <a:xfrm>
            <a:off x="939800" y="4191000"/>
            <a:ext cx="508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E4F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学院：信息工程学院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AD4861-388B-E531-A73A-F6EB495CC690}"/>
              </a:ext>
            </a:extLst>
          </p:cNvPr>
          <p:cNvSpPr txBox="1"/>
          <p:nvPr/>
        </p:nvSpPr>
        <p:spPr>
          <a:xfrm>
            <a:off x="939800" y="4546600"/>
            <a:ext cx="508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E4F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专业：软件工程（专升本）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78AAA4-E66B-1849-4D77-9EDD5E5C088E}"/>
              </a:ext>
            </a:extLst>
          </p:cNvPr>
          <p:cNvSpPr txBox="1"/>
          <p:nvPr/>
        </p:nvSpPr>
        <p:spPr>
          <a:xfrm>
            <a:off x="939800" y="4902200"/>
            <a:ext cx="508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E4F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姓名：江逸腾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A4677E3-4ECA-4BB9-8C19-56A5FA16FE85}"/>
              </a:ext>
            </a:extLst>
          </p:cNvPr>
          <p:cNvSpPr txBox="1"/>
          <p:nvPr/>
        </p:nvSpPr>
        <p:spPr>
          <a:xfrm>
            <a:off x="939800" y="5257800"/>
            <a:ext cx="508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E4F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指导教师：戴伟敏（副教授）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9EA200-B210-E849-9AA9-451536F5D127}"/>
              </a:ext>
            </a:extLst>
          </p:cNvPr>
          <p:cNvSpPr txBox="1"/>
          <p:nvPr/>
        </p:nvSpPr>
        <p:spPr>
          <a:xfrm>
            <a:off x="939800" y="5613400"/>
            <a:ext cx="508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E4F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</a:t>
            </a:r>
            <a:r>
              <a:rPr lang="zh-CN" altLang="en-US" sz="1500">
                <a:solidFill>
                  <a:srgbClr val="E4F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sz="1500">
                <a:solidFill>
                  <a:srgbClr val="E4F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1500">
                <a:solidFill>
                  <a:srgbClr val="E4F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653D31-3C38-1DA2-8C6C-3F07AACA2852}"/>
              </a:ext>
            </a:extLst>
          </p:cNvPr>
          <p:cNvSpPr txBox="1"/>
          <p:nvPr/>
        </p:nvSpPr>
        <p:spPr>
          <a:xfrm>
            <a:off x="7721600" y="5207000"/>
            <a:ext cx="3632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链上确权与交易，链下查询与展示</a:t>
            </a:r>
          </a:p>
        </p:txBody>
      </p:sp>
    </p:spTree>
    <p:extLst>
      <p:ext uri="{BB962C8B-B14F-4D97-AF65-F5344CB8AC3E}">
        <p14:creationId xmlns:p14="http://schemas.microsoft.com/office/powerpoint/2010/main" val="1595491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EF7D56-DF1B-0E65-023B-964B2AA851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9864A8-20E5-351A-08C1-02A6C0591395}"/>
              </a:ext>
            </a:extLst>
          </p:cNvPr>
          <p:cNvSpPr txBox="1"/>
          <p:nvPr/>
        </p:nvSpPr>
        <p:spPr>
          <a:xfrm>
            <a:off x="685800" y="4318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课题目标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2F5B3B-E441-EBBA-C0F2-73CBD5DBAC43}"/>
              </a:ext>
            </a:extLst>
          </p:cNvPr>
          <p:cNvSpPr/>
          <p:nvPr/>
        </p:nvSpPr>
        <p:spPr>
          <a:xfrm>
            <a:off x="685800" y="1117600"/>
            <a:ext cx="1778000" cy="508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6C4C87-9E22-8DDC-40B9-05569D6BE374}"/>
              </a:ext>
            </a:extLst>
          </p:cNvPr>
          <p:cNvSpPr txBox="1"/>
          <p:nvPr/>
        </p:nvSpPr>
        <p:spPr>
          <a:xfrm>
            <a:off x="914400" y="1600200"/>
            <a:ext cx="914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00A8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解决数字作品流转中的确权、追溯和交易闭环问题。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1938901-6495-9977-BD7D-75F20EEC0243}"/>
              </a:ext>
            </a:extLst>
          </p:cNvPr>
          <p:cNvSpPr/>
          <p:nvPr/>
        </p:nvSpPr>
        <p:spPr>
          <a:xfrm>
            <a:off x="1092200" y="26670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2A70D2-AA19-3097-36EB-83BB6EF744F6}"/>
              </a:ext>
            </a:extLst>
          </p:cNvPr>
          <p:cNvSpPr txBox="1"/>
          <p:nvPr/>
        </p:nvSpPr>
        <p:spPr>
          <a:xfrm>
            <a:off x="1346200" y="2565400"/>
            <a:ext cx="9271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数字作品容易被复制，传统平台记录难以证明唯一归属。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301BAD6-5327-752B-74D4-621CBCCFDFA0}"/>
              </a:ext>
            </a:extLst>
          </p:cNvPr>
          <p:cNvSpPr/>
          <p:nvPr/>
        </p:nvSpPr>
        <p:spPr>
          <a:xfrm>
            <a:off x="1092200" y="32512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F15FDB-FDE8-D295-D11D-06B52C8F605D}"/>
              </a:ext>
            </a:extLst>
          </p:cNvPr>
          <p:cNvSpPr txBox="1"/>
          <p:nvPr/>
        </p:nvSpPr>
        <p:spPr>
          <a:xfrm>
            <a:off x="1346200" y="3149600"/>
            <a:ext cx="9271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交易过程需要更清晰的链上凭证和可追溯记录。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0F717B0-5C3A-C612-6EFD-29F20789F87B}"/>
              </a:ext>
            </a:extLst>
          </p:cNvPr>
          <p:cNvSpPr/>
          <p:nvPr/>
        </p:nvSpPr>
        <p:spPr>
          <a:xfrm>
            <a:off x="1092200" y="38354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35393A2-824E-1C3F-E418-0997421A0A29}"/>
              </a:ext>
            </a:extLst>
          </p:cNvPr>
          <p:cNvSpPr txBox="1"/>
          <p:nvPr/>
        </p:nvSpPr>
        <p:spPr>
          <a:xfrm>
            <a:off x="1346200" y="3733800"/>
            <a:ext cx="9271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系统目标是完成创建、确权、展示、交易、订单、个人资产管理的完整流程。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FABA5B-CDFA-F396-50AF-5B7C392FDD85}"/>
              </a:ext>
            </a:extLst>
          </p:cNvPr>
          <p:cNvSpPr txBox="1"/>
          <p:nvPr/>
        </p:nvSpPr>
        <p:spPr>
          <a:xfrm>
            <a:off x="685800" y="64770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数字藏品交易平台答辩  </a:t>
            </a:r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 2</a:t>
            </a:r>
            <a:endParaRPr lang="zh-CN" altLang="en-US" sz="900">
              <a:solidFill>
                <a:srgbClr val="5767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6808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3E4CF25-2483-B882-D030-FFEFA43995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425268-567A-1E9A-3A85-6EBC6FBD41CD}"/>
              </a:ext>
            </a:extLst>
          </p:cNvPr>
          <p:cNvSpPr txBox="1"/>
          <p:nvPr/>
        </p:nvSpPr>
        <p:spPr>
          <a:xfrm>
            <a:off x="685800" y="4318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系统总体架构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F71BEB-2E7F-E8E6-C185-9035108439D4}"/>
              </a:ext>
            </a:extLst>
          </p:cNvPr>
          <p:cNvSpPr/>
          <p:nvPr/>
        </p:nvSpPr>
        <p:spPr>
          <a:xfrm>
            <a:off x="685800" y="1117600"/>
            <a:ext cx="1778000" cy="508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6BD01C5-4B7E-6070-22AB-6A65427E39ED}"/>
              </a:ext>
            </a:extLst>
          </p:cNvPr>
          <p:cNvSpPr/>
          <p:nvPr/>
        </p:nvSpPr>
        <p:spPr>
          <a:xfrm>
            <a:off x="939800" y="1574800"/>
            <a:ext cx="2413000" cy="965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CEDE28-4E39-9E0B-F712-76BD3F395421}"/>
              </a:ext>
            </a:extLst>
          </p:cNvPr>
          <p:cNvSpPr txBox="1"/>
          <p:nvPr/>
        </p:nvSpPr>
        <p:spPr>
          <a:xfrm>
            <a:off x="1143000" y="1752600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前端展示层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81A72C-0E58-2F62-851A-AF56D1CFFF16}"/>
              </a:ext>
            </a:extLst>
          </p:cNvPr>
          <p:cNvSpPr txBox="1"/>
          <p:nvPr/>
        </p:nvSpPr>
        <p:spPr>
          <a:xfrm>
            <a:off x="1143000" y="2108200"/>
            <a:ext cx="2006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Next.js / React</a:t>
            </a:r>
            <a:endParaRPr lang="zh-CN" altLang="en-US" sz="1200">
              <a:solidFill>
                <a:srgbClr val="5767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72188BE-149E-B867-8CF4-4431D40D4427}"/>
              </a:ext>
            </a:extLst>
          </p:cNvPr>
          <p:cNvSpPr/>
          <p:nvPr/>
        </p:nvSpPr>
        <p:spPr>
          <a:xfrm>
            <a:off x="4889500" y="1574800"/>
            <a:ext cx="2413000" cy="965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F913DD1-9761-1F9E-66A9-24B56E16A75D}"/>
              </a:ext>
            </a:extLst>
          </p:cNvPr>
          <p:cNvSpPr txBox="1"/>
          <p:nvPr/>
        </p:nvSpPr>
        <p:spPr>
          <a:xfrm>
            <a:off x="5092700" y="1752600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后端服务层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60D099-1B63-B12C-0F22-754D6754DD30}"/>
              </a:ext>
            </a:extLst>
          </p:cNvPr>
          <p:cNvSpPr txBox="1"/>
          <p:nvPr/>
        </p:nvSpPr>
        <p:spPr>
          <a:xfrm>
            <a:off x="5092700" y="2108200"/>
            <a:ext cx="2006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 / REST API</a:t>
            </a:r>
            <a:endParaRPr lang="zh-CN" altLang="en-US" sz="1200">
              <a:solidFill>
                <a:srgbClr val="5767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1F55FE4-5DFC-CC3D-CAED-1003F05A3A54}"/>
              </a:ext>
            </a:extLst>
          </p:cNvPr>
          <p:cNvSpPr/>
          <p:nvPr/>
        </p:nvSpPr>
        <p:spPr>
          <a:xfrm>
            <a:off x="8839200" y="1574800"/>
            <a:ext cx="2413000" cy="965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423739-E734-8766-1805-B1C62EAD5B08}"/>
              </a:ext>
            </a:extLst>
          </p:cNvPr>
          <p:cNvSpPr txBox="1"/>
          <p:nvPr/>
        </p:nvSpPr>
        <p:spPr>
          <a:xfrm>
            <a:off x="9042400" y="1752600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数据持久层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C7DF0B4-3B09-8FCF-9A10-1F5FCE0FF758}"/>
              </a:ext>
            </a:extLst>
          </p:cNvPr>
          <p:cNvSpPr txBox="1"/>
          <p:nvPr/>
        </p:nvSpPr>
        <p:spPr>
          <a:xfrm>
            <a:off x="9042400" y="2108200"/>
            <a:ext cx="2006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MySQL / GORM</a:t>
            </a:r>
            <a:endParaRPr lang="zh-CN" altLang="en-US" sz="1200">
              <a:solidFill>
                <a:srgbClr val="5767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60247B9-F3B6-1115-130E-52F59F4BC4AC}"/>
              </a:ext>
            </a:extLst>
          </p:cNvPr>
          <p:cNvSpPr/>
          <p:nvPr/>
        </p:nvSpPr>
        <p:spPr>
          <a:xfrm>
            <a:off x="4889500" y="3733800"/>
            <a:ext cx="2413000" cy="965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83EB8DC-334C-D9A8-79D9-15D987A21EC6}"/>
              </a:ext>
            </a:extLst>
          </p:cNvPr>
          <p:cNvSpPr txBox="1"/>
          <p:nvPr/>
        </p:nvSpPr>
        <p:spPr>
          <a:xfrm>
            <a:off x="5092700" y="3911600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智能合约层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6FCD973-E517-E4D6-C0D4-80283875FE5C}"/>
              </a:ext>
            </a:extLst>
          </p:cNvPr>
          <p:cNvSpPr txBox="1"/>
          <p:nvPr/>
        </p:nvSpPr>
        <p:spPr>
          <a:xfrm>
            <a:off x="5092700" y="4267200"/>
            <a:ext cx="2006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Solidity / ERC-721 / </a:t>
            </a:r>
            <a:r>
              <a:rPr lang="zh-CN" altLang="en-US" sz="12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版税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16AAFC9-05E0-757E-1843-191D08FC335C}"/>
              </a:ext>
            </a:extLst>
          </p:cNvPr>
          <p:cNvSpPr/>
          <p:nvPr/>
        </p:nvSpPr>
        <p:spPr>
          <a:xfrm>
            <a:off x="8839200" y="3733800"/>
            <a:ext cx="2413000" cy="965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12F82E0-21E0-9898-CD00-902FA5AB59AB}"/>
              </a:ext>
            </a:extLst>
          </p:cNvPr>
          <p:cNvSpPr txBox="1"/>
          <p:nvPr/>
        </p:nvSpPr>
        <p:spPr>
          <a:xfrm>
            <a:off x="9042400" y="3911600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分布式存储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C8789D3-BA93-29D5-05E7-132E27A1C452}"/>
              </a:ext>
            </a:extLst>
          </p:cNvPr>
          <p:cNvSpPr txBox="1"/>
          <p:nvPr/>
        </p:nvSpPr>
        <p:spPr>
          <a:xfrm>
            <a:off x="9042400" y="4267200"/>
            <a:ext cx="2006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IPFS / Pinata</a:t>
            </a:r>
            <a:endParaRPr lang="zh-CN" altLang="en-US" sz="1200">
              <a:solidFill>
                <a:srgbClr val="5767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1AAC94AB-6209-AEC6-E36E-5135B087D0DC}"/>
              </a:ext>
            </a:extLst>
          </p:cNvPr>
          <p:cNvCxnSpPr/>
          <p:nvPr/>
        </p:nvCxnSpPr>
        <p:spPr>
          <a:xfrm>
            <a:off x="3352800" y="2057400"/>
            <a:ext cx="1536700" cy="0"/>
          </a:xfrm>
          <a:prstGeom prst="line">
            <a:avLst/>
          </a:prstGeom>
          <a:ln w="2032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D0CFC297-6561-F137-D53B-9C4DC5D1D2C1}"/>
              </a:ext>
            </a:extLst>
          </p:cNvPr>
          <p:cNvSpPr txBox="1"/>
          <p:nvPr/>
        </p:nvSpPr>
        <p:spPr>
          <a:xfrm>
            <a:off x="3873500" y="1727200"/>
            <a:ext cx="88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HTTP API</a:t>
            </a:r>
            <a:endParaRPr lang="zh-CN" altLang="en-US" sz="1000">
              <a:solidFill>
                <a:srgbClr val="5767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F26CAC4-3499-A02F-4085-9E97DD7002BD}"/>
              </a:ext>
            </a:extLst>
          </p:cNvPr>
          <p:cNvCxnSpPr/>
          <p:nvPr/>
        </p:nvCxnSpPr>
        <p:spPr>
          <a:xfrm>
            <a:off x="7302500" y="2057400"/>
            <a:ext cx="1536700" cy="0"/>
          </a:xfrm>
          <a:prstGeom prst="line">
            <a:avLst/>
          </a:prstGeom>
          <a:ln w="2032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F291C65-2487-24F7-E792-48E23479242C}"/>
              </a:ext>
            </a:extLst>
          </p:cNvPr>
          <p:cNvSpPr txBox="1"/>
          <p:nvPr/>
        </p:nvSpPr>
        <p:spPr>
          <a:xfrm>
            <a:off x="7950200" y="1727200"/>
            <a:ext cx="558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ORM</a:t>
            </a:r>
            <a:endParaRPr lang="zh-CN" altLang="en-US" sz="1000">
              <a:solidFill>
                <a:srgbClr val="5767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8E75DA5-C262-F181-9CEB-EB6642223131}"/>
              </a:ext>
            </a:extLst>
          </p:cNvPr>
          <p:cNvCxnSpPr/>
          <p:nvPr/>
        </p:nvCxnSpPr>
        <p:spPr>
          <a:xfrm>
            <a:off x="6096000" y="2540000"/>
            <a:ext cx="0" cy="1193800"/>
          </a:xfrm>
          <a:prstGeom prst="line">
            <a:avLst/>
          </a:prstGeom>
          <a:ln w="2032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774862AB-2AF8-0D35-3FC2-96E6E32CC21F}"/>
              </a:ext>
            </a:extLst>
          </p:cNvPr>
          <p:cNvSpPr txBox="1"/>
          <p:nvPr/>
        </p:nvSpPr>
        <p:spPr>
          <a:xfrm>
            <a:off x="6286500" y="3022600"/>
            <a:ext cx="101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合约调用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7E342FC-F6E5-AF95-096A-6F8CBFEF6672}"/>
              </a:ext>
            </a:extLst>
          </p:cNvPr>
          <p:cNvCxnSpPr/>
          <p:nvPr/>
        </p:nvCxnSpPr>
        <p:spPr>
          <a:xfrm>
            <a:off x="7302500" y="4216400"/>
            <a:ext cx="1536700" cy="0"/>
          </a:xfrm>
          <a:prstGeom prst="line">
            <a:avLst/>
          </a:prstGeom>
          <a:ln w="2032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473B813-4696-4396-773A-D2CFDE922715}"/>
              </a:ext>
            </a:extLst>
          </p:cNvPr>
          <p:cNvSpPr txBox="1"/>
          <p:nvPr/>
        </p:nvSpPr>
        <p:spPr>
          <a:xfrm>
            <a:off x="7645400" y="3886200"/>
            <a:ext cx="1117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Metadata URI</a:t>
            </a:r>
            <a:endParaRPr lang="zh-CN" altLang="en-US" sz="1000">
              <a:solidFill>
                <a:srgbClr val="5767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FBEA17E-B307-5A3C-AB60-39FB2BB6A6D3}"/>
              </a:ext>
            </a:extLst>
          </p:cNvPr>
          <p:cNvSpPr txBox="1"/>
          <p:nvPr/>
        </p:nvSpPr>
        <p:spPr>
          <a:xfrm>
            <a:off x="3683000" y="5003800"/>
            <a:ext cx="4826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链上确权与交易，链下查询与展示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CCCC574-82F6-3D66-8EE4-547406A16735}"/>
              </a:ext>
            </a:extLst>
          </p:cNvPr>
          <p:cNvSpPr/>
          <p:nvPr/>
        </p:nvSpPr>
        <p:spPr>
          <a:xfrm>
            <a:off x="1016000" y="5765800"/>
            <a:ext cx="76200" cy="762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CB30D6F-F8FA-6333-363E-352E5A675A98}"/>
              </a:ext>
            </a:extLst>
          </p:cNvPr>
          <p:cNvSpPr txBox="1"/>
          <p:nvPr/>
        </p:nvSpPr>
        <p:spPr>
          <a:xfrm>
            <a:off x="1219200" y="5689600"/>
            <a:ext cx="457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前端负责页面交互、钱包连接、合约交易发起。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548B4DAB-B8FC-F13F-6BF8-FE8B6AB3FB49}"/>
              </a:ext>
            </a:extLst>
          </p:cNvPr>
          <p:cNvSpPr/>
          <p:nvPr/>
        </p:nvSpPr>
        <p:spPr>
          <a:xfrm>
            <a:off x="1016000" y="6146800"/>
            <a:ext cx="76200" cy="762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F4ECC94-9418-24C9-F601-9C94D7B93258}"/>
              </a:ext>
            </a:extLst>
          </p:cNvPr>
          <p:cNvSpPr txBox="1"/>
          <p:nvPr/>
        </p:nvSpPr>
        <p:spPr>
          <a:xfrm>
            <a:off x="1219200" y="6070600"/>
            <a:ext cx="457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后端负责认证、</a:t>
            </a:r>
            <a:r>
              <a:rPr lang="en-US" altLang="zh-CN" sz="12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IPFS</a:t>
            </a:r>
            <a:r>
              <a:rPr lang="zh-CN" altLang="en-US" sz="12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上传、</a:t>
            </a:r>
            <a:r>
              <a:rPr lang="en-US" altLang="zh-CN" sz="12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 sz="12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镜像数据和订单管理。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235DBEA4-C2DD-031C-B4C0-106C92BDD2EA}"/>
              </a:ext>
            </a:extLst>
          </p:cNvPr>
          <p:cNvSpPr/>
          <p:nvPr/>
        </p:nvSpPr>
        <p:spPr>
          <a:xfrm>
            <a:off x="6350000" y="5765800"/>
            <a:ext cx="76200" cy="762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F8E15D8-513D-4C06-09D5-7E0425767A5E}"/>
              </a:ext>
            </a:extLst>
          </p:cNvPr>
          <p:cNvSpPr txBox="1"/>
          <p:nvPr/>
        </p:nvSpPr>
        <p:spPr>
          <a:xfrm>
            <a:off x="6553200" y="5689600"/>
            <a:ext cx="457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智能合约负责铸造、上架、下架、购买和版税。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177CD46F-55E1-2F1D-2F4B-848CDAB17976}"/>
              </a:ext>
            </a:extLst>
          </p:cNvPr>
          <p:cNvSpPr/>
          <p:nvPr/>
        </p:nvSpPr>
        <p:spPr>
          <a:xfrm>
            <a:off x="6350000" y="6146800"/>
            <a:ext cx="76200" cy="762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DFB9D30-23CB-7211-1132-7B9ADD8C13B2}"/>
              </a:ext>
            </a:extLst>
          </p:cNvPr>
          <p:cNvSpPr txBox="1"/>
          <p:nvPr/>
        </p:nvSpPr>
        <p:spPr>
          <a:xfrm>
            <a:off x="6553200" y="6070600"/>
            <a:ext cx="457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MySQL</a:t>
            </a:r>
            <a:r>
              <a:rPr lang="zh-CN" altLang="en-US" sz="12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保存链下业务数据，</a:t>
            </a:r>
            <a:r>
              <a:rPr lang="en-US" altLang="zh-CN" sz="12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IPFS</a:t>
            </a:r>
            <a:r>
              <a:rPr lang="zh-CN" altLang="en-US" sz="12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保存媒体文件和元数据。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0A7EDDE-D816-2E71-1CD4-65BD21C60356}"/>
              </a:ext>
            </a:extLst>
          </p:cNvPr>
          <p:cNvSpPr txBox="1"/>
          <p:nvPr/>
        </p:nvSpPr>
        <p:spPr>
          <a:xfrm>
            <a:off x="685800" y="64770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数字藏品交易平台答辩  </a:t>
            </a:r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 3</a:t>
            </a:r>
            <a:endParaRPr lang="zh-CN" altLang="en-US" sz="900">
              <a:solidFill>
                <a:srgbClr val="5767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8067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000365C-BC0F-0405-D104-5A86EDB062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7FF421-6AA8-8B19-F590-2907AC0FA397}"/>
              </a:ext>
            </a:extLst>
          </p:cNvPr>
          <p:cNvSpPr txBox="1"/>
          <p:nvPr/>
        </p:nvSpPr>
        <p:spPr>
          <a:xfrm>
            <a:off x="685800" y="4318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核心业务流程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87D7B8-050A-5845-D159-63D457CA50B6}"/>
              </a:ext>
            </a:extLst>
          </p:cNvPr>
          <p:cNvSpPr/>
          <p:nvPr/>
        </p:nvSpPr>
        <p:spPr>
          <a:xfrm>
            <a:off x="685800" y="1117600"/>
            <a:ext cx="1778000" cy="508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D2B1AA0-1748-7FC7-74F2-72A93D9821B5}"/>
              </a:ext>
            </a:extLst>
          </p:cNvPr>
          <p:cNvSpPr/>
          <p:nvPr/>
        </p:nvSpPr>
        <p:spPr>
          <a:xfrm>
            <a:off x="609600" y="2108200"/>
            <a:ext cx="16510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FF8EE6-6B32-290A-96A7-EF12215C64FD}"/>
              </a:ext>
            </a:extLst>
          </p:cNvPr>
          <p:cNvSpPr txBox="1"/>
          <p:nvPr/>
        </p:nvSpPr>
        <p:spPr>
          <a:xfrm>
            <a:off x="736600" y="2413000"/>
            <a:ext cx="139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钱包签名登录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6757281-8FE2-7146-DE11-E5075FC6E679}"/>
              </a:ext>
            </a:extLst>
          </p:cNvPr>
          <p:cNvCxnSpPr/>
          <p:nvPr/>
        </p:nvCxnSpPr>
        <p:spPr>
          <a:xfrm>
            <a:off x="2260600" y="2565400"/>
            <a:ext cx="279400" cy="0"/>
          </a:xfrm>
          <a:prstGeom prst="line">
            <a:avLst/>
          </a:prstGeom>
          <a:ln w="2032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889141A-C2DD-879E-7C75-5F2FF6AC4A56}"/>
              </a:ext>
            </a:extLst>
          </p:cNvPr>
          <p:cNvSpPr/>
          <p:nvPr/>
        </p:nvSpPr>
        <p:spPr>
          <a:xfrm>
            <a:off x="2540000" y="2108200"/>
            <a:ext cx="16510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9EEF945-B612-7C4B-3123-58AF7185C4AB}"/>
              </a:ext>
            </a:extLst>
          </p:cNvPr>
          <p:cNvSpPr txBox="1"/>
          <p:nvPr/>
        </p:nvSpPr>
        <p:spPr>
          <a:xfrm>
            <a:off x="2667000" y="2413000"/>
            <a:ext cx="139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上传媒体文件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80BD0F3-298E-852D-8BE4-372662DC8762}"/>
              </a:ext>
            </a:extLst>
          </p:cNvPr>
          <p:cNvCxnSpPr/>
          <p:nvPr/>
        </p:nvCxnSpPr>
        <p:spPr>
          <a:xfrm>
            <a:off x="4191000" y="2565400"/>
            <a:ext cx="279400" cy="0"/>
          </a:xfrm>
          <a:prstGeom prst="line">
            <a:avLst/>
          </a:prstGeom>
          <a:ln w="2032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B83A43F-A389-BBB6-CAF3-3FF30ED17CB9}"/>
              </a:ext>
            </a:extLst>
          </p:cNvPr>
          <p:cNvSpPr/>
          <p:nvPr/>
        </p:nvSpPr>
        <p:spPr>
          <a:xfrm>
            <a:off x="4470400" y="2108200"/>
            <a:ext cx="16510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5BCEAF-1223-3A63-1202-8DA4EDF0B76A}"/>
              </a:ext>
            </a:extLst>
          </p:cNvPr>
          <p:cNvSpPr txBox="1"/>
          <p:nvPr/>
        </p:nvSpPr>
        <p:spPr>
          <a:xfrm>
            <a:off x="4597400" y="2413000"/>
            <a:ext cx="139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IPFS</a:t>
            </a:r>
            <a:r>
              <a:rPr lang="zh-CN" altLang="en-US" sz="15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生成元数据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90715EC-4E99-B616-BD7A-9DA3F27EB55B}"/>
              </a:ext>
            </a:extLst>
          </p:cNvPr>
          <p:cNvCxnSpPr/>
          <p:nvPr/>
        </p:nvCxnSpPr>
        <p:spPr>
          <a:xfrm>
            <a:off x="6121400" y="2565400"/>
            <a:ext cx="279400" cy="0"/>
          </a:xfrm>
          <a:prstGeom prst="line">
            <a:avLst/>
          </a:prstGeom>
          <a:ln w="2032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66FAFC6-AA9C-E49D-EE4F-BD51EF3C4EC0}"/>
              </a:ext>
            </a:extLst>
          </p:cNvPr>
          <p:cNvSpPr/>
          <p:nvPr/>
        </p:nvSpPr>
        <p:spPr>
          <a:xfrm>
            <a:off x="6400800" y="2108200"/>
            <a:ext cx="16510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B2C3979-CBAE-DB39-CACC-3BF2BBAB6116}"/>
              </a:ext>
            </a:extLst>
          </p:cNvPr>
          <p:cNvSpPr txBox="1"/>
          <p:nvPr/>
        </p:nvSpPr>
        <p:spPr>
          <a:xfrm>
            <a:off x="6527800" y="2413000"/>
            <a:ext cx="139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合约铸造</a:t>
            </a:r>
            <a:r>
              <a:rPr lang="en-US" altLang="zh-CN" sz="15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上架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448B8FD-44C2-4DC5-A4F0-A591748AD967}"/>
              </a:ext>
            </a:extLst>
          </p:cNvPr>
          <p:cNvCxnSpPr/>
          <p:nvPr/>
        </p:nvCxnSpPr>
        <p:spPr>
          <a:xfrm>
            <a:off x="8051800" y="2565400"/>
            <a:ext cx="279400" cy="0"/>
          </a:xfrm>
          <a:prstGeom prst="line">
            <a:avLst/>
          </a:prstGeom>
          <a:ln w="2032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C4C116E-451E-0106-01DB-EE0F4F8ED17F}"/>
              </a:ext>
            </a:extLst>
          </p:cNvPr>
          <p:cNvSpPr/>
          <p:nvPr/>
        </p:nvSpPr>
        <p:spPr>
          <a:xfrm>
            <a:off x="8331200" y="2108200"/>
            <a:ext cx="16510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333D1A4-6EA5-D1A8-8590-C454F86C3E2B}"/>
              </a:ext>
            </a:extLst>
          </p:cNvPr>
          <p:cNvSpPr txBox="1"/>
          <p:nvPr/>
        </p:nvSpPr>
        <p:spPr>
          <a:xfrm>
            <a:off x="8458200" y="2413000"/>
            <a:ext cx="139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市场展示交易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21F767E-1A34-FC0F-14FA-580F2A85D57B}"/>
              </a:ext>
            </a:extLst>
          </p:cNvPr>
          <p:cNvCxnSpPr/>
          <p:nvPr/>
        </p:nvCxnSpPr>
        <p:spPr>
          <a:xfrm>
            <a:off x="9982200" y="2565400"/>
            <a:ext cx="279400" cy="0"/>
          </a:xfrm>
          <a:prstGeom prst="line">
            <a:avLst/>
          </a:prstGeom>
          <a:ln w="2032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A1C0C97-8113-D415-3E39-42B8FA0585B7}"/>
              </a:ext>
            </a:extLst>
          </p:cNvPr>
          <p:cNvSpPr/>
          <p:nvPr/>
        </p:nvSpPr>
        <p:spPr>
          <a:xfrm>
            <a:off x="10261600" y="2108200"/>
            <a:ext cx="16510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46223C2-2361-3541-9B89-6F61E6D976C6}"/>
              </a:ext>
            </a:extLst>
          </p:cNvPr>
          <p:cNvSpPr txBox="1"/>
          <p:nvPr/>
        </p:nvSpPr>
        <p:spPr>
          <a:xfrm>
            <a:off x="10388600" y="2413000"/>
            <a:ext cx="139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订单同步管理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7C13ED7-F4B0-BE6D-6542-2949C8534845}"/>
              </a:ext>
            </a:extLst>
          </p:cNvPr>
          <p:cNvSpPr txBox="1"/>
          <p:nvPr/>
        </p:nvSpPr>
        <p:spPr>
          <a:xfrm>
            <a:off x="2997200" y="3733800"/>
            <a:ext cx="660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主流程强调先完成链上可信操作，再同步链下业务数据。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D3CB82C3-FBEF-62F6-FA8E-3C81E217402C}"/>
              </a:ext>
            </a:extLst>
          </p:cNvPr>
          <p:cNvSpPr/>
          <p:nvPr/>
        </p:nvSpPr>
        <p:spPr>
          <a:xfrm>
            <a:off x="1168400" y="46736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92F588F-E6C9-3B18-0ECD-BEDD54F857DA}"/>
              </a:ext>
            </a:extLst>
          </p:cNvPr>
          <p:cNvSpPr txBox="1"/>
          <p:nvPr/>
        </p:nvSpPr>
        <p:spPr>
          <a:xfrm>
            <a:off x="1422400" y="4572000"/>
            <a:ext cx="965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主流程从钱包签名登录开始，确保后续操作能绑定到用户身份。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6DFAF3D7-8566-C0C4-17BB-20023F843384}"/>
              </a:ext>
            </a:extLst>
          </p:cNvPr>
          <p:cNvSpPr/>
          <p:nvPr/>
        </p:nvSpPr>
        <p:spPr>
          <a:xfrm>
            <a:off x="1168400" y="52578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FB2AA12-2CEA-9070-C853-538FD6A8B4AD}"/>
              </a:ext>
            </a:extLst>
          </p:cNvPr>
          <p:cNvSpPr txBox="1"/>
          <p:nvPr/>
        </p:nvSpPr>
        <p:spPr>
          <a:xfrm>
            <a:off x="1422400" y="5156200"/>
            <a:ext cx="965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媒体文件与</a:t>
            </a:r>
            <a:r>
              <a:rPr lang="en-US" altLang="zh-CN" sz="15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metadata</a:t>
            </a:r>
            <a:r>
              <a:rPr lang="zh-CN" altLang="en-US" sz="15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先进入</a:t>
            </a:r>
            <a:r>
              <a:rPr lang="en-US" altLang="zh-CN" sz="15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IPFS</a:t>
            </a:r>
            <a:r>
              <a:rPr lang="zh-CN" altLang="en-US" sz="15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，再把</a:t>
            </a:r>
            <a:r>
              <a:rPr lang="en-US" altLang="zh-CN" sz="15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TokenURI</a:t>
            </a:r>
            <a:r>
              <a:rPr lang="zh-CN" altLang="en-US" sz="15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写入智能合约。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C1D8159B-D2FE-81E1-89B6-036C7AE78835}"/>
              </a:ext>
            </a:extLst>
          </p:cNvPr>
          <p:cNvSpPr/>
          <p:nvPr/>
        </p:nvSpPr>
        <p:spPr>
          <a:xfrm>
            <a:off x="1168400" y="58420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F99364E-19CF-8681-C8AD-D68A3EF6662A}"/>
              </a:ext>
            </a:extLst>
          </p:cNvPr>
          <p:cNvSpPr txBox="1"/>
          <p:nvPr/>
        </p:nvSpPr>
        <p:spPr>
          <a:xfrm>
            <a:off x="1422400" y="5740400"/>
            <a:ext cx="965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交易成功后同步订单和所有者，保证平台展示与链上结果一致。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E992FFE-DFF6-614F-1799-60E174C94F1D}"/>
              </a:ext>
            </a:extLst>
          </p:cNvPr>
          <p:cNvSpPr txBox="1"/>
          <p:nvPr/>
        </p:nvSpPr>
        <p:spPr>
          <a:xfrm>
            <a:off x="685800" y="64770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数字藏品交易平台答辩  </a:t>
            </a:r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 4</a:t>
            </a:r>
            <a:endParaRPr lang="zh-CN" altLang="en-US" sz="900">
              <a:solidFill>
                <a:srgbClr val="5767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4548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F8BDB68-79AA-F7DE-4342-8FB65B90A0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8E9A41-EC96-7BE4-73B9-9D72BD13F80E}"/>
              </a:ext>
            </a:extLst>
          </p:cNvPr>
          <p:cNvSpPr txBox="1"/>
          <p:nvPr/>
        </p:nvSpPr>
        <p:spPr>
          <a:xfrm>
            <a:off x="685800" y="4318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功能一：钱包登录与权限基础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E2D32E-153E-2120-7ABE-76793BF29276}"/>
              </a:ext>
            </a:extLst>
          </p:cNvPr>
          <p:cNvSpPr/>
          <p:nvPr/>
        </p:nvSpPr>
        <p:spPr>
          <a:xfrm>
            <a:off x="685800" y="1117600"/>
            <a:ext cx="1778000" cy="508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F848C78-D4B0-FFBF-4090-A9688682ACE2}"/>
              </a:ext>
            </a:extLst>
          </p:cNvPr>
          <p:cNvSpPr/>
          <p:nvPr/>
        </p:nvSpPr>
        <p:spPr>
          <a:xfrm>
            <a:off x="914400" y="1981200"/>
            <a:ext cx="3073400" cy="1905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39F382-3C36-61D1-B2BF-346DD94BA7D9}"/>
              </a:ext>
            </a:extLst>
          </p:cNvPr>
          <p:cNvSpPr txBox="1"/>
          <p:nvPr/>
        </p:nvSpPr>
        <p:spPr>
          <a:xfrm>
            <a:off x="1143000" y="2209800"/>
            <a:ext cx="482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30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4169BD-48EE-CDA4-7140-6BE049036C15}"/>
              </a:ext>
            </a:extLst>
          </p:cNvPr>
          <p:cNvSpPr txBox="1"/>
          <p:nvPr/>
        </p:nvSpPr>
        <p:spPr>
          <a:xfrm>
            <a:off x="1727200" y="2184400"/>
            <a:ext cx="1905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获取 </a:t>
            </a:r>
            <a:r>
              <a:rPr lang="en-US" altLang="zh-CN" sz="21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nonce</a:t>
            </a:r>
            <a:endParaRPr lang="zh-CN" altLang="en-US" sz="2100" b="1">
              <a:solidFill>
                <a:srgbClr val="12223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B29BE9-2443-D5A5-1A78-8FA0EC643D60}"/>
              </a:ext>
            </a:extLst>
          </p:cNvPr>
          <p:cNvSpPr txBox="1"/>
          <p:nvPr/>
        </p:nvSpPr>
        <p:spPr>
          <a:xfrm>
            <a:off x="1219200" y="2819400"/>
            <a:ext cx="241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前端提交钱包地址，后端生成一次性随机数。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D9C096C-9384-8C64-9D8B-DADFE7F2D252}"/>
              </a:ext>
            </a:extLst>
          </p:cNvPr>
          <p:cNvCxnSpPr/>
          <p:nvPr/>
        </p:nvCxnSpPr>
        <p:spPr>
          <a:xfrm>
            <a:off x="3987800" y="2921000"/>
            <a:ext cx="457200" cy="0"/>
          </a:xfrm>
          <a:prstGeom prst="line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E1310C6-C8E8-16EC-B593-06C51AE8C9CD}"/>
              </a:ext>
            </a:extLst>
          </p:cNvPr>
          <p:cNvSpPr/>
          <p:nvPr/>
        </p:nvSpPr>
        <p:spPr>
          <a:xfrm>
            <a:off x="4546600" y="1981200"/>
            <a:ext cx="3073400" cy="1905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B0CB16-D094-E797-FF5C-36FBF0CB2A35}"/>
              </a:ext>
            </a:extLst>
          </p:cNvPr>
          <p:cNvSpPr txBox="1"/>
          <p:nvPr/>
        </p:nvSpPr>
        <p:spPr>
          <a:xfrm>
            <a:off x="4775200" y="2209800"/>
            <a:ext cx="482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30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DC32805-D712-7D01-B49B-37DFC8A1FF4D}"/>
              </a:ext>
            </a:extLst>
          </p:cNvPr>
          <p:cNvSpPr txBox="1"/>
          <p:nvPr/>
        </p:nvSpPr>
        <p:spPr>
          <a:xfrm>
            <a:off x="5359400" y="2184400"/>
            <a:ext cx="1905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钱包签名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0DF9A2-3DAB-4977-456C-A3CECC911E02}"/>
              </a:ext>
            </a:extLst>
          </p:cNvPr>
          <p:cNvSpPr txBox="1"/>
          <p:nvPr/>
        </p:nvSpPr>
        <p:spPr>
          <a:xfrm>
            <a:off x="4851400" y="2819400"/>
            <a:ext cx="241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用户用钱包签名登录消息，不暴露私钥。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6CBE9B5-3FE8-797B-9116-D6C7C1CD4A65}"/>
              </a:ext>
            </a:extLst>
          </p:cNvPr>
          <p:cNvCxnSpPr/>
          <p:nvPr/>
        </p:nvCxnSpPr>
        <p:spPr>
          <a:xfrm>
            <a:off x="7620000" y="2921000"/>
            <a:ext cx="457200" cy="0"/>
          </a:xfrm>
          <a:prstGeom prst="line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395FA09-0112-22D7-DCC8-915069862369}"/>
              </a:ext>
            </a:extLst>
          </p:cNvPr>
          <p:cNvSpPr/>
          <p:nvPr/>
        </p:nvSpPr>
        <p:spPr>
          <a:xfrm>
            <a:off x="8178800" y="1981200"/>
            <a:ext cx="3073400" cy="1905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BAAAF3A-7E32-7556-6BC6-40F8AF15F3C0}"/>
              </a:ext>
            </a:extLst>
          </p:cNvPr>
          <p:cNvSpPr txBox="1"/>
          <p:nvPr/>
        </p:nvSpPr>
        <p:spPr>
          <a:xfrm>
            <a:off x="8407400" y="2209800"/>
            <a:ext cx="482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30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9FAB9E-8D5B-B19E-33BC-ADDEA32B9307}"/>
              </a:ext>
            </a:extLst>
          </p:cNvPr>
          <p:cNvSpPr txBox="1"/>
          <p:nvPr/>
        </p:nvSpPr>
        <p:spPr>
          <a:xfrm>
            <a:off x="8991600" y="2184400"/>
            <a:ext cx="1905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签发 </a:t>
            </a:r>
            <a:r>
              <a:rPr lang="en-US" altLang="zh-CN" sz="21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JWT</a:t>
            </a:r>
            <a:endParaRPr lang="zh-CN" altLang="en-US" sz="2100" b="1">
              <a:solidFill>
                <a:srgbClr val="12223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DC673B-5014-D093-78D2-A41ABE3FFBEB}"/>
              </a:ext>
            </a:extLst>
          </p:cNvPr>
          <p:cNvSpPr txBox="1"/>
          <p:nvPr/>
        </p:nvSpPr>
        <p:spPr>
          <a:xfrm>
            <a:off x="8483600" y="2819400"/>
            <a:ext cx="241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后端校验签名地址一致后返回登录令牌。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F62250D-315A-2C00-66B7-660210851024}"/>
              </a:ext>
            </a:extLst>
          </p:cNvPr>
          <p:cNvSpPr/>
          <p:nvPr/>
        </p:nvSpPr>
        <p:spPr>
          <a:xfrm>
            <a:off x="1270000" y="45974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A5F503D-C3D9-594E-D461-45BD9A5FC018}"/>
              </a:ext>
            </a:extLst>
          </p:cNvPr>
          <p:cNvSpPr txBox="1"/>
          <p:nvPr/>
        </p:nvSpPr>
        <p:spPr>
          <a:xfrm>
            <a:off x="1524000" y="4495800"/>
            <a:ext cx="939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认证接口：</a:t>
            </a:r>
            <a:r>
              <a:rPr lang="en-US" altLang="zh-CN" sz="17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/auth/wallet/nonce</a:t>
            </a:r>
            <a:r>
              <a:rPr lang="zh-CN" altLang="en-US" sz="17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/auth/wallet/login</a:t>
            </a:r>
            <a:r>
              <a:rPr lang="zh-CN" altLang="en-US" sz="17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DC96D34E-1A3C-DC2A-DB6F-DD395941BBB5}"/>
              </a:ext>
            </a:extLst>
          </p:cNvPr>
          <p:cNvSpPr/>
          <p:nvPr/>
        </p:nvSpPr>
        <p:spPr>
          <a:xfrm>
            <a:off x="1270000" y="51816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A74A7A4-9024-600E-32AC-F2E982A2283E}"/>
              </a:ext>
            </a:extLst>
          </p:cNvPr>
          <p:cNvSpPr txBox="1"/>
          <p:nvPr/>
        </p:nvSpPr>
        <p:spPr>
          <a:xfrm>
            <a:off x="1524000" y="5080000"/>
            <a:ext cx="939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登录态用于</a:t>
            </a:r>
            <a:r>
              <a:rPr lang="en-US" altLang="zh-CN" sz="17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 sz="17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创建、上架、购买、个人中心等受保护功能。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B18E0E8-5D5C-B5FE-EFDB-5D3C29D9A8CB}"/>
              </a:ext>
            </a:extLst>
          </p:cNvPr>
          <p:cNvSpPr/>
          <p:nvPr/>
        </p:nvSpPr>
        <p:spPr>
          <a:xfrm>
            <a:off x="1270000" y="57658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3FCFD19-A8A5-847E-44B1-F2185F03824C}"/>
              </a:ext>
            </a:extLst>
          </p:cNvPr>
          <p:cNvSpPr txBox="1"/>
          <p:nvPr/>
        </p:nvSpPr>
        <p:spPr>
          <a:xfrm>
            <a:off x="1524000" y="5664200"/>
            <a:ext cx="939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User</a:t>
            </a:r>
            <a:r>
              <a:rPr lang="zh-CN" altLang="en-US" sz="17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表保存</a:t>
            </a:r>
            <a:r>
              <a:rPr lang="en-US" altLang="zh-CN" sz="17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wallet</a:t>
            </a:r>
            <a:r>
              <a:rPr lang="zh-CN" altLang="en-US" sz="17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lang="en-US" altLang="zh-CN" sz="17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nonce</a:t>
            </a:r>
            <a:r>
              <a:rPr lang="zh-CN" altLang="en-US" sz="17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7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JWT</a:t>
            </a:r>
            <a:r>
              <a:rPr lang="zh-CN" altLang="en-US" sz="17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中间件负责后续接口鉴权。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8087B1C-51EE-1833-D2C2-A81FB5937CE6}"/>
              </a:ext>
            </a:extLst>
          </p:cNvPr>
          <p:cNvSpPr txBox="1"/>
          <p:nvPr/>
        </p:nvSpPr>
        <p:spPr>
          <a:xfrm>
            <a:off x="685800" y="64770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数字藏品交易平台答辩  </a:t>
            </a:r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 5</a:t>
            </a:r>
            <a:endParaRPr lang="zh-CN" altLang="en-US" sz="900">
              <a:solidFill>
                <a:srgbClr val="5767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0191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0E5BDE-9121-2A1B-1169-96696BB14C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3F04AC-B43C-04C7-5480-9EA29CA377FE}"/>
              </a:ext>
            </a:extLst>
          </p:cNvPr>
          <p:cNvSpPr txBox="1"/>
          <p:nvPr/>
        </p:nvSpPr>
        <p:spPr>
          <a:xfrm>
            <a:off x="685800" y="4318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功能二：数字藏品创建与链上确权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2F6590-8C9E-63C9-2CC6-F6722BEB1BA5}"/>
              </a:ext>
            </a:extLst>
          </p:cNvPr>
          <p:cNvSpPr/>
          <p:nvPr/>
        </p:nvSpPr>
        <p:spPr>
          <a:xfrm>
            <a:off x="685800" y="1117600"/>
            <a:ext cx="1778000" cy="508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FEED57A-3081-5592-E757-749698BAD846}"/>
              </a:ext>
            </a:extLst>
          </p:cNvPr>
          <p:cNvSpPr/>
          <p:nvPr/>
        </p:nvSpPr>
        <p:spPr>
          <a:xfrm>
            <a:off x="889000" y="18542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7B2151-BE02-ACAD-AE81-3C8824123B94}"/>
              </a:ext>
            </a:extLst>
          </p:cNvPr>
          <p:cNvSpPr txBox="1"/>
          <p:nvPr/>
        </p:nvSpPr>
        <p:spPr>
          <a:xfrm>
            <a:off x="1143000" y="1752600"/>
            <a:ext cx="546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支持图片、音频、视频等多媒体文件，并按分类限制文件类型。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744FC61-A5B0-E72A-F7CF-33457239900B}"/>
              </a:ext>
            </a:extLst>
          </p:cNvPr>
          <p:cNvSpPr/>
          <p:nvPr/>
        </p:nvSpPr>
        <p:spPr>
          <a:xfrm>
            <a:off x="889000" y="24384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F3FD9A-37B9-1C7A-8463-0D111EC34EBF}"/>
              </a:ext>
            </a:extLst>
          </p:cNvPr>
          <p:cNvSpPr txBox="1"/>
          <p:nvPr/>
        </p:nvSpPr>
        <p:spPr>
          <a:xfrm>
            <a:off x="1143000" y="2336800"/>
            <a:ext cx="546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校验名称、价格、文件大小、版税比例和版税接收地址。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45A03FB-9D99-7178-CC1B-23DDF77BC300}"/>
              </a:ext>
            </a:extLst>
          </p:cNvPr>
          <p:cNvSpPr/>
          <p:nvPr/>
        </p:nvSpPr>
        <p:spPr>
          <a:xfrm>
            <a:off x="889000" y="30226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0F7EF4F-3351-94A7-8938-8984105D2581}"/>
              </a:ext>
            </a:extLst>
          </p:cNvPr>
          <p:cNvSpPr txBox="1"/>
          <p:nvPr/>
        </p:nvSpPr>
        <p:spPr>
          <a:xfrm>
            <a:off x="1143000" y="2921000"/>
            <a:ext cx="546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媒体文件和</a:t>
            </a:r>
            <a:r>
              <a:rPr lang="en-US" altLang="zh-CN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metadata</a:t>
            </a:r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上传到</a:t>
            </a:r>
            <a:r>
              <a:rPr lang="en-US" altLang="zh-CN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IPFS</a:t>
            </a:r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，返回可访问资源地址。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9002A6E-B58D-18C3-F544-D579B3CA8E73}"/>
              </a:ext>
            </a:extLst>
          </p:cNvPr>
          <p:cNvSpPr/>
          <p:nvPr/>
        </p:nvSpPr>
        <p:spPr>
          <a:xfrm>
            <a:off x="889000" y="36068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84B104-6407-624E-535A-030A087FFA7B}"/>
              </a:ext>
            </a:extLst>
          </p:cNvPr>
          <p:cNvSpPr txBox="1"/>
          <p:nvPr/>
        </p:nvSpPr>
        <p:spPr>
          <a:xfrm>
            <a:off x="1143000" y="3505200"/>
            <a:ext cx="546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前端调用合约铸造</a:t>
            </a:r>
            <a:r>
              <a:rPr lang="en-US" altLang="zh-CN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TokenID</a:t>
            </a:r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，后端保存</a:t>
            </a:r>
            <a:r>
              <a:rPr lang="en-US" altLang="zh-CN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链下镜像记录。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5C7445D-E8AE-D949-6174-329247FE82E0}"/>
              </a:ext>
            </a:extLst>
          </p:cNvPr>
          <p:cNvSpPr/>
          <p:nvPr/>
        </p:nvSpPr>
        <p:spPr>
          <a:xfrm>
            <a:off x="6858000" y="1905000"/>
            <a:ext cx="4318000" cy="3175000"/>
          </a:xfrm>
          <a:prstGeom prst="roundRect">
            <a:avLst/>
          </a:prstGeom>
          <a:solidFill>
            <a:srgbClr val="EEF4F7"/>
          </a:solidFill>
          <a:ln w="1524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6C2CF35-5D63-BE3B-F43B-17E4B19DC7D3}"/>
              </a:ext>
            </a:extLst>
          </p:cNvPr>
          <p:cNvSpPr txBox="1"/>
          <p:nvPr/>
        </p:nvSpPr>
        <p:spPr>
          <a:xfrm>
            <a:off x="7188200" y="3213100"/>
            <a:ext cx="36576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TODO</a:t>
            </a:r>
            <a:r>
              <a:rPr lang="zh-CN" altLang="en-US" sz="2000" b="1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：插入创建页 </a:t>
            </a:r>
            <a:r>
              <a:rPr lang="en-US" altLang="zh-CN" sz="2000" b="1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IPFS</a:t>
            </a:r>
            <a:r>
              <a:rPr lang="zh-CN" altLang="en-US" sz="2000" b="1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上传 </a:t>
            </a:r>
            <a:r>
              <a:rPr lang="en-US" altLang="zh-CN" sz="2000" b="1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000" b="1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铸造成功截图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ED2B117-B859-D81B-FEE0-90F84B7F5D60}"/>
              </a:ext>
            </a:extLst>
          </p:cNvPr>
          <p:cNvSpPr txBox="1"/>
          <p:nvPr/>
        </p:nvSpPr>
        <p:spPr>
          <a:xfrm>
            <a:off x="685800" y="64770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数字藏品交易平台答辩  </a:t>
            </a:r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 6</a:t>
            </a:r>
            <a:endParaRPr lang="zh-CN" altLang="en-US" sz="900">
              <a:solidFill>
                <a:srgbClr val="5767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1307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4615F78-761A-49D5-0596-26201F3B5A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789CB7-6449-F43D-EFF4-AF3BB430FE4E}"/>
              </a:ext>
            </a:extLst>
          </p:cNvPr>
          <p:cNvSpPr txBox="1"/>
          <p:nvPr/>
        </p:nvSpPr>
        <p:spPr>
          <a:xfrm>
            <a:off x="685800" y="4318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功能三：市场浏览与藏品详情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58E57B-800C-03E8-4BF0-E20CC63A6209}"/>
              </a:ext>
            </a:extLst>
          </p:cNvPr>
          <p:cNvSpPr/>
          <p:nvPr/>
        </p:nvSpPr>
        <p:spPr>
          <a:xfrm>
            <a:off x="685800" y="1117600"/>
            <a:ext cx="1778000" cy="508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60F0A3F-6E84-954E-835E-3F0E08233B81}"/>
              </a:ext>
            </a:extLst>
          </p:cNvPr>
          <p:cNvSpPr/>
          <p:nvPr/>
        </p:nvSpPr>
        <p:spPr>
          <a:xfrm>
            <a:off x="889000" y="18542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622E93-BDEA-5CCF-199C-11E0762AC897}"/>
              </a:ext>
            </a:extLst>
          </p:cNvPr>
          <p:cNvSpPr txBox="1"/>
          <p:nvPr/>
        </p:nvSpPr>
        <p:spPr>
          <a:xfrm>
            <a:off x="1143000" y="1752600"/>
            <a:ext cx="546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首页和市场页展示藏品封面、名称、分类、价格和媒体类型。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6C6213A-0BA5-0BC2-8C5C-053D94649756}"/>
              </a:ext>
            </a:extLst>
          </p:cNvPr>
          <p:cNvSpPr/>
          <p:nvPr/>
        </p:nvSpPr>
        <p:spPr>
          <a:xfrm>
            <a:off x="889000" y="24384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9E92FD-64DB-70B8-298E-AE0D0F2363B9}"/>
              </a:ext>
            </a:extLst>
          </p:cNvPr>
          <p:cNvSpPr txBox="1"/>
          <p:nvPr/>
        </p:nvSpPr>
        <p:spPr>
          <a:xfrm>
            <a:off x="1143000" y="2336800"/>
            <a:ext cx="546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详情页展示描述、拥有者、合约地址、</a:t>
            </a:r>
            <a:r>
              <a:rPr lang="en-US" altLang="zh-CN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TokenID</a:t>
            </a:r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TokenURI</a:t>
            </a:r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IPFS</a:t>
            </a:r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地址和版税。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B644303-ECFA-9DA7-C130-397FB1055B9E}"/>
              </a:ext>
            </a:extLst>
          </p:cNvPr>
          <p:cNvSpPr/>
          <p:nvPr/>
        </p:nvSpPr>
        <p:spPr>
          <a:xfrm>
            <a:off x="889000" y="30226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F48E417-14BA-FFEF-26FE-2B8B11CFF3A4}"/>
              </a:ext>
            </a:extLst>
          </p:cNvPr>
          <p:cNvSpPr txBox="1"/>
          <p:nvPr/>
        </p:nvSpPr>
        <p:spPr>
          <a:xfrm>
            <a:off x="1143000" y="2921000"/>
            <a:ext cx="546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系统根据当前用户身份显示购买、上架或下架入口。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8F99282-C8C5-1B91-5EA8-BF4235490AB5}"/>
              </a:ext>
            </a:extLst>
          </p:cNvPr>
          <p:cNvSpPr/>
          <p:nvPr/>
        </p:nvSpPr>
        <p:spPr>
          <a:xfrm>
            <a:off x="889000" y="36068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62DE78-B0ED-2C78-D657-06F8B5C1D7D0}"/>
              </a:ext>
            </a:extLst>
          </p:cNvPr>
          <p:cNvSpPr txBox="1"/>
          <p:nvPr/>
        </p:nvSpPr>
        <p:spPr>
          <a:xfrm>
            <a:off x="1143000" y="3505200"/>
            <a:ext cx="546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交易历史区展示该藏品的成交记录和交易哈希。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CAB6D45-E446-7546-2CED-84535489668A}"/>
              </a:ext>
            </a:extLst>
          </p:cNvPr>
          <p:cNvSpPr/>
          <p:nvPr/>
        </p:nvSpPr>
        <p:spPr>
          <a:xfrm>
            <a:off x="6858000" y="1905000"/>
            <a:ext cx="4318000" cy="3175000"/>
          </a:xfrm>
          <a:prstGeom prst="roundRect">
            <a:avLst/>
          </a:prstGeom>
          <a:solidFill>
            <a:srgbClr val="EEF4F7"/>
          </a:solidFill>
          <a:ln w="1524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2A689C5-D3FA-892D-627D-5A281272CD85}"/>
              </a:ext>
            </a:extLst>
          </p:cNvPr>
          <p:cNvSpPr txBox="1"/>
          <p:nvPr/>
        </p:nvSpPr>
        <p:spPr>
          <a:xfrm>
            <a:off x="7188200" y="3213100"/>
            <a:ext cx="36576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TODO</a:t>
            </a:r>
            <a:r>
              <a:rPr lang="zh-CN" altLang="en-US" sz="2000" b="1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：插入市场页 </a:t>
            </a:r>
            <a:r>
              <a:rPr lang="en-US" altLang="zh-CN" sz="2000" b="1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000" b="1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详情页截图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44172EC-962D-5768-245C-3ABF276E3DD0}"/>
              </a:ext>
            </a:extLst>
          </p:cNvPr>
          <p:cNvSpPr txBox="1"/>
          <p:nvPr/>
        </p:nvSpPr>
        <p:spPr>
          <a:xfrm>
            <a:off x="685800" y="64770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数字藏品交易平台答辩  </a:t>
            </a:r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 7</a:t>
            </a:r>
            <a:endParaRPr lang="zh-CN" altLang="en-US" sz="900">
              <a:solidFill>
                <a:srgbClr val="5767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7395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87C0DAA-8912-673A-E7D3-E79B6B00B1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CB78D2-2CC7-96DC-F975-E5BC60F8AEB8}"/>
              </a:ext>
            </a:extLst>
          </p:cNvPr>
          <p:cNvSpPr txBox="1"/>
          <p:nvPr/>
        </p:nvSpPr>
        <p:spPr>
          <a:xfrm>
            <a:off x="685800" y="4318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功能四：上架、购买与订单同步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1AF6CD-C0AC-691F-024D-29B6ACEC5222}"/>
              </a:ext>
            </a:extLst>
          </p:cNvPr>
          <p:cNvSpPr/>
          <p:nvPr/>
        </p:nvSpPr>
        <p:spPr>
          <a:xfrm>
            <a:off x="685800" y="1117600"/>
            <a:ext cx="1778000" cy="508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6A6FFBC-9171-49C3-11B6-63D1BCF28C73}"/>
              </a:ext>
            </a:extLst>
          </p:cNvPr>
          <p:cNvSpPr/>
          <p:nvPr/>
        </p:nvSpPr>
        <p:spPr>
          <a:xfrm>
            <a:off x="1016000" y="1955800"/>
            <a:ext cx="2159000" cy="1193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5D2016-38BB-5829-9039-3E48F8CE872B}"/>
              </a:ext>
            </a:extLst>
          </p:cNvPr>
          <p:cNvSpPr txBox="1"/>
          <p:nvPr/>
        </p:nvSpPr>
        <p:spPr>
          <a:xfrm>
            <a:off x="1193800" y="23622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持有者上架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484A597-610B-3107-5C4B-ADF1711E7B89}"/>
              </a:ext>
            </a:extLst>
          </p:cNvPr>
          <p:cNvCxnSpPr/>
          <p:nvPr/>
        </p:nvCxnSpPr>
        <p:spPr>
          <a:xfrm>
            <a:off x="3175000" y="2552700"/>
            <a:ext cx="609600" cy="0"/>
          </a:xfrm>
          <a:prstGeom prst="line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E750D7C-21A0-4E94-0804-2A8669F10B5A}"/>
              </a:ext>
            </a:extLst>
          </p:cNvPr>
          <p:cNvSpPr/>
          <p:nvPr/>
        </p:nvSpPr>
        <p:spPr>
          <a:xfrm>
            <a:off x="3810000" y="1955800"/>
            <a:ext cx="2159000" cy="1193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947119-5890-D6CF-8B90-4DEE505C7192}"/>
              </a:ext>
            </a:extLst>
          </p:cNvPr>
          <p:cNvSpPr txBox="1"/>
          <p:nvPr/>
        </p:nvSpPr>
        <p:spPr>
          <a:xfrm>
            <a:off x="3987800" y="23622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钱包确认购买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9F91FDA-FAE9-2E45-E7ED-29A86E51DA4B}"/>
              </a:ext>
            </a:extLst>
          </p:cNvPr>
          <p:cNvCxnSpPr/>
          <p:nvPr/>
        </p:nvCxnSpPr>
        <p:spPr>
          <a:xfrm>
            <a:off x="5969000" y="2552700"/>
            <a:ext cx="609600" cy="0"/>
          </a:xfrm>
          <a:prstGeom prst="line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9DA4F9D-9E07-8341-57E9-6FAFD5FDD9E1}"/>
              </a:ext>
            </a:extLst>
          </p:cNvPr>
          <p:cNvSpPr/>
          <p:nvPr/>
        </p:nvSpPr>
        <p:spPr>
          <a:xfrm>
            <a:off x="6604000" y="1955800"/>
            <a:ext cx="2159000" cy="1193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EA46AF-E456-F161-BDE6-FAE5F111EC8A}"/>
              </a:ext>
            </a:extLst>
          </p:cNvPr>
          <p:cNvSpPr txBox="1"/>
          <p:nvPr/>
        </p:nvSpPr>
        <p:spPr>
          <a:xfrm>
            <a:off x="6781800" y="23622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合约转移与分账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36968CA-D7AC-A8A3-8FC1-1211137A9BED}"/>
              </a:ext>
            </a:extLst>
          </p:cNvPr>
          <p:cNvCxnSpPr/>
          <p:nvPr/>
        </p:nvCxnSpPr>
        <p:spPr>
          <a:xfrm>
            <a:off x="8763000" y="2552700"/>
            <a:ext cx="609600" cy="0"/>
          </a:xfrm>
          <a:prstGeom prst="line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515E9AE-4449-8C24-C76D-B9C1DBA7F884}"/>
              </a:ext>
            </a:extLst>
          </p:cNvPr>
          <p:cNvSpPr/>
          <p:nvPr/>
        </p:nvSpPr>
        <p:spPr>
          <a:xfrm>
            <a:off x="9398000" y="1955800"/>
            <a:ext cx="2159000" cy="1193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6202C3-CB1A-E0D1-C2BB-4EEAF4E87A77}"/>
              </a:ext>
            </a:extLst>
          </p:cNvPr>
          <p:cNvSpPr txBox="1"/>
          <p:nvPr/>
        </p:nvSpPr>
        <p:spPr>
          <a:xfrm>
            <a:off x="9575800" y="23622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后端订单同步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B06468F-DAF1-9B8C-A531-8CC359A93E02}"/>
              </a:ext>
            </a:extLst>
          </p:cNvPr>
          <p:cNvSpPr/>
          <p:nvPr/>
        </p:nvSpPr>
        <p:spPr>
          <a:xfrm>
            <a:off x="1168400" y="40894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6570E30-BDB5-323A-55FD-7E20765CEB86}"/>
              </a:ext>
            </a:extLst>
          </p:cNvPr>
          <p:cNvSpPr txBox="1"/>
          <p:nvPr/>
        </p:nvSpPr>
        <p:spPr>
          <a:xfrm>
            <a:off x="1422400" y="3987800"/>
            <a:ext cx="965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持有者可对自己的</a:t>
            </a:r>
            <a:r>
              <a:rPr lang="en-US" altLang="zh-CN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进行上架、改价和下架。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0F8DFB37-2B0F-B03D-F475-A19B39EFFA8A}"/>
              </a:ext>
            </a:extLst>
          </p:cNvPr>
          <p:cNvSpPr/>
          <p:nvPr/>
        </p:nvSpPr>
        <p:spPr>
          <a:xfrm>
            <a:off x="1168400" y="46736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C9C1E36-55FC-9CD9-D964-170C9CEB1916}"/>
              </a:ext>
            </a:extLst>
          </p:cNvPr>
          <p:cNvSpPr txBox="1"/>
          <p:nvPr/>
        </p:nvSpPr>
        <p:spPr>
          <a:xfrm>
            <a:off x="1422400" y="4572000"/>
            <a:ext cx="965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购买时买家通过钱包确认链上交易，合约完成</a:t>
            </a:r>
            <a:r>
              <a:rPr lang="en-US" altLang="zh-CN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转移和版税分配。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A5831E35-39FD-34BE-BB3F-2E8B9D8526FD}"/>
              </a:ext>
            </a:extLst>
          </p:cNvPr>
          <p:cNvSpPr/>
          <p:nvPr/>
        </p:nvSpPr>
        <p:spPr>
          <a:xfrm>
            <a:off x="1168400" y="52578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CE6C1DB-1200-876D-F00B-4D59CD229D9C}"/>
              </a:ext>
            </a:extLst>
          </p:cNvPr>
          <p:cNvSpPr txBox="1"/>
          <p:nvPr/>
        </p:nvSpPr>
        <p:spPr>
          <a:xfrm>
            <a:off x="1422400" y="5156200"/>
            <a:ext cx="965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交易成功后，后端保存</a:t>
            </a:r>
            <a:r>
              <a:rPr lang="en-US" altLang="zh-CN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txHash</a:t>
            </a:r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、价格、买卖双方并更新本地所有者。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4518AE2-430C-9E21-396D-F5F7F9060777}"/>
              </a:ext>
            </a:extLst>
          </p:cNvPr>
          <p:cNvSpPr/>
          <p:nvPr/>
        </p:nvSpPr>
        <p:spPr>
          <a:xfrm>
            <a:off x="1168400" y="58420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C63CB29-A7AC-2117-9E5F-51288D6C89F6}"/>
              </a:ext>
            </a:extLst>
          </p:cNvPr>
          <p:cNvSpPr txBox="1"/>
          <p:nvPr/>
        </p:nvSpPr>
        <p:spPr>
          <a:xfrm>
            <a:off x="1422400" y="5740400"/>
            <a:ext cx="965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如果用户取消钱包交易，系统不会生成订单记录。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406C965-BF03-BAF6-C396-D13723BA9B92}"/>
              </a:ext>
            </a:extLst>
          </p:cNvPr>
          <p:cNvSpPr txBox="1"/>
          <p:nvPr/>
        </p:nvSpPr>
        <p:spPr>
          <a:xfrm>
            <a:off x="685800" y="64770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数字藏品交易平台答辩  </a:t>
            </a:r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 8</a:t>
            </a:r>
            <a:endParaRPr lang="zh-CN" altLang="en-US" sz="900">
              <a:solidFill>
                <a:srgbClr val="5767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1980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D03732D-013F-AD97-5E89-804DF49D53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F84D61-4DD6-2A4B-2DC5-4203118F5D5B}"/>
              </a:ext>
            </a:extLst>
          </p:cNvPr>
          <p:cNvSpPr txBox="1"/>
          <p:nvPr/>
        </p:nvSpPr>
        <p:spPr>
          <a:xfrm>
            <a:off x="685800" y="4318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功能五：个人中心与测试结果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57C312-1526-A4B0-8976-3CEF1E782943}"/>
              </a:ext>
            </a:extLst>
          </p:cNvPr>
          <p:cNvSpPr/>
          <p:nvPr/>
        </p:nvSpPr>
        <p:spPr>
          <a:xfrm>
            <a:off x="685800" y="1117600"/>
            <a:ext cx="1778000" cy="508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9DD76AD-56C9-20F2-7380-113449992FB4}"/>
              </a:ext>
            </a:extLst>
          </p:cNvPr>
          <p:cNvSpPr/>
          <p:nvPr/>
        </p:nvSpPr>
        <p:spPr>
          <a:xfrm>
            <a:off x="889000" y="18542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3D76B9-B52C-7433-4055-CB9287584A32}"/>
              </a:ext>
            </a:extLst>
          </p:cNvPr>
          <p:cNvSpPr txBox="1"/>
          <p:nvPr/>
        </p:nvSpPr>
        <p:spPr>
          <a:xfrm>
            <a:off x="1143000" y="1752600"/>
            <a:ext cx="546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个人中心展示钱包地址、用户名、头像、当前持有藏品。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043141C-7AFC-8410-25A5-9F78A449A204}"/>
              </a:ext>
            </a:extLst>
          </p:cNvPr>
          <p:cNvSpPr/>
          <p:nvPr/>
        </p:nvSpPr>
        <p:spPr>
          <a:xfrm>
            <a:off x="889000" y="24384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B88F38-B822-A8B1-615C-648E45065453}"/>
              </a:ext>
            </a:extLst>
          </p:cNvPr>
          <p:cNvSpPr txBox="1"/>
          <p:nvPr/>
        </p:nvSpPr>
        <p:spPr>
          <a:xfrm>
            <a:off x="1143000" y="2336800"/>
            <a:ext cx="546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支持查看历史买入、历史卖出和交易哈希。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54919A7-1C2A-375D-1A92-4795D256175D}"/>
              </a:ext>
            </a:extLst>
          </p:cNvPr>
          <p:cNvSpPr/>
          <p:nvPr/>
        </p:nvSpPr>
        <p:spPr>
          <a:xfrm>
            <a:off x="889000" y="30226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28205C-6D2D-02CD-769E-744A9F697035}"/>
              </a:ext>
            </a:extLst>
          </p:cNvPr>
          <p:cNvSpPr txBox="1"/>
          <p:nvPr/>
        </p:nvSpPr>
        <p:spPr>
          <a:xfrm>
            <a:off x="1143000" y="2921000"/>
            <a:ext cx="546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测试覆盖登录、创建、展示、详情、上架下架、购买订单、个人中心。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0F5AAAD-2D3A-0805-8723-8BE1F949F3B9}"/>
              </a:ext>
            </a:extLst>
          </p:cNvPr>
          <p:cNvSpPr/>
          <p:nvPr/>
        </p:nvSpPr>
        <p:spPr>
          <a:xfrm>
            <a:off x="889000" y="36068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312138-0D72-5A09-D79F-63AB824F46E2}"/>
              </a:ext>
            </a:extLst>
          </p:cNvPr>
          <p:cNvSpPr txBox="1"/>
          <p:nvPr/>
        </p:nvSpPr>
        <p:spPr>
          <a:xfrm>
            <a:off x="1143000" y="3505200"/>
            <a:ext cx="546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测试结论：主要功能符合预期，链上交易与链下数据同步正常。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E616438-2569-EF07-D9EE-925A8A73E6CA}"/>
              </a:ext>
            </a:extLst>
          </p:cNvPr>
          <p:cNvSpPr/>
          <p:nvPr/>
        </p:nvSpPr>
        <p:spPr>
          <a:xfrm>
            <a:off x="6858000" y="1905000"/>
            <a:ext cx="4318000" cy="3175000"/>
          </a:xfrm>
          <a:prstGeom prst="roundRect">
            <a:avLst/>
          </a:prstGeom>
          <a:solidFill>
            <a:srgbClr val="EEF4F7"/>
          </a:solidFill>
          <a:ln w="1524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6A96C5A-B948-DC03-6BC0-66A507E6779A}"/>
              </a:ext>
            </a:extLst>
          </p:cNvPr>
          <p:cNvSpPr txBox="1"/>
          <p:nvPr/>
        </p:nvSpPr>
        <p:spPr>
          <a:xfrm>
            <a:off x="7188200" y="3213100"/>
            <a:ext cx="3657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TODO</a:t>
            </a:r>
            <a:r>
              <a:rPr lang="zh-CN" altLang="en-US" sz="2000" b="1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：插入个人中心截图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6448328-04B0-0D69-FCD6-CB10E01BBE03}"/>
              </a:ext>
            </a:extLst>
          </p:cNvPr>
          <p:cNvSpPr txBox="1"/>
          <p:nvPr/>
        </p:nvSpPr>
        <p:spPr>
          <a:xfrm>
            <a:off x="685800" y="64770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数字藏品交易平台答辩  </a:t>
            </a:r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 9</a:t>
            </a:r>
            <a:endParaRPr lang="zh-CN" altLang="en-US" sz="900">
              <a:solidFill>
                <a:srgbClr val="5767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2167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823C636-6144-0094-E94A-97BD56C014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8B9205-A1CF-2B19-1590-D133D0800BF8}"/>
              </a:ext>
            </a:extLst>
          </p:cNvPr>
          <p:cNvSpPr txBox="1"/>
          <p:nvPr/>
        </p:nvSpPr>
        <p:spPr>
          <a:xfrm>
            <a:off x="685800" y="4318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C3F8F2-0819-AB63-620F-14F35ECC3FC7}"/>
              </a:ext>
            </a:extLst>
          </p:cNvPr>
          <p:cNvSpPr/>
          <p:nvPr/>
        </p:nvSpPr>
        <p:spPr>
          <a:xfrm>
            <a:off x="685800" y="1117600"/>
            <a:ext cx="1778000" cy="508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F51A868-68C6-72FC-3DF3-BEFCAE635250}"/>
              </a:ext>
            </a:extLst>
          </p:cNvPr>
          <p:cNvSpPr/>
          <p:nvPr/>
        </p:nvSpPr>
        <p:spPr>
          <a:xfrm>
            <a:off x="1193800" y="18542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E5DD78-A7DF-A136-DE12-40B60CB8522C}"/>
              </a:ext>
            </a:extLst>
          </p:cNvPr>
          <p:cNvSpPr txBox="1"/>
          <p:nvPr/>
        </p:nvSpPr>
        <p:spPr>
          <a:xfrm>
            <a:off x="1447800" y="17526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完成了</a:t>
            </a:r>
            <a:r>
              <a:rPr lang="en-US" altLang="zh-CN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从创建、确权、展示、交易到订单追溯的闭环。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69F4D4D-2A22-F033-33B5-DBE9ACB425E1}"/>
              </a:ext>
            </a:extLst>
          </p:cNvPr>
          <p:cNvSpPr/>
          <p:nvPr/>
        </p:nvSpPr>
        <p:spPr>
          <a:xfrm>
            <a:off x="1193800" y="24384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D59F50-9C98-4E85-D4B8-BA5E2DEBF336}"/>
              </a:ext>
            </a:extLst>
          </p:cNvPr>
          <p:cNvSpPr txBox="1"/>
          <p:nvPr/>
        </p:nvSpPr>
        <p:spPr>
          <a:xfrm>
            <a:off x="1447800" y="23368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实现了钱包身份认证、</a:t>
            </a:r>
            <a:r>
              <a:rPr lang="en-US" altLang="zh-CN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IPFS</a:t>
            </a:r>
            <a:r>
              <a:rPr lang="zh-CN" altLang="en-US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元数据存储、</a:t>
            </a:r>
            <a:r>
              <a:rPr lang="en-US" altLang="zh-CN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ERC-721</a:t>
            </a:r>
            <a:r>
              <a:rPr lang="zh-CN" altLang="en-US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铸造交易和</a:t>
            </a:r>
            <a:r>
              <a:rPr lang="en-US" altLang="zh-CN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EIP-2981</a:t>
            </a:r>
            <a:r>
              <a:rPr lang="zh-CN" altLang="en-US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版税。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7BF1A91-805C-95BA-88E3-82CE530A7C25}"/>
              </a:ext>
            </a:extLst>
          </p:cNvPr>
          <p:cNvSpPr/>
          <p:nvPr/>
        </p:nvSpPr>
        <p:spPr>
          <a:xfrm>
            <a:off x="1193800" y="30226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6F3AE1-EBD2-92BE-8A08-7A7B79C55A40}"/>
              </a:ext>
            </a:extLst>
          </p:cNvPr>
          <p:cNvSpPr txBox="1"/>
          <p:nvPr/>
        </p:nvSpPr>
        <p:spPr>
          <a:xfrm>
            <a:off x="1447800" y="29210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en-US" altLang="zh-CN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</a:t>
            </a:r>
            <a:r>
              <a:rPr lang="zh-CN" altLang="en-US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后端和</a:t>
            </a:r>
            <a:r>
              <a:rPr lang="en-US" altLang="zh-CN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MySQL</a:t>
            </a:r>
            <a:r>
              <a:rPr lang="zh-CN" altLang="en-US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保存链下镜像数据，提升页面查询和资产管理效率。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48EC4CB-254D-FF1C-4631-65AA3639DB74}"/>
              </a:ext>
            </a:extLst>
          </p:cNvPr>
          <p:cNvSpPr/>
          <p:nvPr/>
        </p:nvSpPr>
        <p:spPr>
          <a:xfrm>
            <a:off x="1193800" y="3606800"/>
            <a:ext cx="101600" cy="1016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5BDB56-3D49-6B9B-DD75-194F2E7C369F}"/>
              </a:ext>
            </a:extLst>
          </p:cNvPr>
          <p:cNvSpPr txBox="1"/>
          <p:nvPr/>
        </p:nvSpPr>
        <p:spPr>
          <a:xfrm>
            <a:off x="1447800" y="35052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1222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系统能够满足数字藏品创作者发布作品、用户浏览交易和个人资产管理的基本需求。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36B90B-B537-2056-150B-B203B46181DA}"/>
              </a:ext>
            </a:extLst>
          </p:cNvPr>
          <p:cNvSpPr txBox="1"/>
          <p:nvPr/>
        </p:nvSpPr>
        <p:spPr>
          <a:xfrm>
            <a:off x="3302000" y="5461000"/>
            <a:ext cx="558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000" b="1">
                <a:solidFill>
                  <a:srgbClr val="00A8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谢谢，请老师批评指正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F869A9D-4922-9403-6179-1840A62C785D}"/>
              </a:ext>
            </a:extLst>
          </p:cNvPr>
          <p:cNvSpPr txBox="1"/>
          <p:nvPr/>
        </p:nvSpPr>
        <p:spPr>
          <a:xfrm>
            <a:off x="685800" y="64770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数字藏品交易平台答辩  </a:t>
            </a:r>
            <a:r>
              <a:rPr lang="en-US" altLang="zh-CN" sz="900">
                <a:solidFill>
                  <a:srgbClr val="5767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 10</a:t>
            </a:r>
            <a:endParaRPr lang="zh-CN" altLang="en-US" sz="900">
              <a:solidFill>
                <a:srgbClr val="5767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0576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1245</Words>
  <Application>Microsoft Office PowerPoint</Application>
  <PresentationFormat>自定义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逸腾 江</dc:creator>
  <cp:lastModifiedBy>逸腾 江</cp:lastModifiedBy>
  <cp:revision>1</cp:revision>
  <dcterms:created xsi:type="dcterms:W3CDTF">2026-05-05T14:06:37Z</dcterms:created>
  <dcterms:modified xsi:type="dcterms:W3CDTF">2026-05-05T14:06:37Z</dcterms:modified>
</cp:coreProperties>
</file>